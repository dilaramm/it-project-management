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1244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73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2D TEAM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smtClean="0">
                <a:solidFill>
                  <a:srgbClr val="5FC9B3"/>
                </a:solidFill>
              </a:rPr>
              <a:t>TEAM MEMBERS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C9D0E6"/>
                </a:solidFill>
              </a:rPr>
              <a:t>Usenatdinova</a:t>
            </a:r>
            <a:r>
              <a:rPr lang="en-US" sz="1500" dirty="0" smtClean="0">
                <a:solidFill>
                  <a:srgbClr val="C9D0E6"/>
                </a:solidFill>
              </a:rPr>
              <a:t> </a:t>
            </a:r>
            <a:r>
              <a:rPr lang="en-US" sz="1500" dirty="0" err="1" smtClean="0">
                <a:solidFill>
                  <a:srgbClr val="C9D0E6"/>
                </a:solidFill>
              </a:rPr>
              <a:t>Dilaram</a:t>
            </a:r>
            <a:r>
              <a:rPr lang="en-US" sz="1500" dirty="0" smtClean="0">
                <a:solidFill>
                  <a:srgbClr val="C9D0E6"/>
                </a:solidFill>
              </a:rPr>
              <a:t> I24C 202490349</a:t>
            </a:r>
          </a:p>
          <a:p>
            <a:pPr marL="0" indent="0">
              <a:buNone/>
            </a:pPr>
            <a:r>
              <a:rPr lang="en-US" sz="1500" dirty="0" err="1" smtClean="0">
                <a:solidFill>
                  <a:srgbClr val="C9D0E6"/>
                </a:solidFill>
              </a:rPr>
              <a:t>Ergasheva</a:t>
            </a:r>
            <a:r>
              <a:rPr lang="en-US" sz="1500" dirty="0" smtClean="0">
                <a:solidFill>
                  <a:srgbClr val="C9D0E6"/>
                </a:solidFill>
              </a:rPr>
              <a:t> </a:t>
            </a:r>
            <a:r>
              <a:rPr lang="en-US" sz="1500" dirty="0" err="1" smtClean="0">
                <a:solidFill>
                  <a:srgbClr val="C9D0E6"/>
                </a:solidFill>
              </a:rPr>
              <a:t>Madinabonu</a:t>
            </a:r>
            <a:r>
              <a:rPr lang="en-US" sz="1500" dirty="0" smtClean="0">
                <a:solidFill>
                  <a:srgbClr val="C9D0E6"/>
                </a:solidFill>
              </a:rPr>
              <a:t> I24D 202490107</a:t>
            </a:r>
          </a:p>
          <a:p>
            <a:pPr marL="0" indent="0">
              <a:buNone/>
            </a:pPr>
            <a:r>
              <a:rPr lang="en-US" sz="1500" dirty="0" err="1" smtClean="0">
                <a:solidFill>
                  <a:srgbClr val="C9D0E6"/>
                </a:solidFill>
              </a:rPr>
              <a:t>Umerova</a:t>
            </a:r>
            <a:r>
              <a:rPr lang="en-US" sz="1500" dirty="0" smtClean="0">
                <a:solidFill>
                  <a:srgbClr val="C9D0E6"/>
                </a:solidFill>
              </a:rPr>
              <a:t> </a:t>
            </a:r>
            <a:r>
              <a:rPr lang="en-US" sz="1500" dirty="0" err="1" smtClean="0">
                <a:solidFill>
                  <a:srgbClr val="C9D0E6"/>
                </a:solidFill>
              </a:rPr>
              <a:t>Elina</a:t>
            </a:r>
            <a:r>
              <a:rPr lang="en-US" sz="1500" dirty="0" smtClean="0">
                <a:solidFill>
                  <a:srgbClr val="C9D0E6"/>
                </a:solidFill>
              </a:rPr>
              <a:t> I24D 202490345</a:t>
            </a:r>
          </a:p>
          <a:p>
            <a:pPr marL="0" indent="0">
              <a:buNone/>
            </a:pPr>
            <a:r>
              <a:rPr lang="en-US" sz="1500" dirty="0" err="1" smtClean="0">
                <a:solidFill>
                  <a:srgbClr val="C9D0E6"/>
                </a:solidFill>
              </a:rPr>
              <a:t>Tursunova</a:t>
            </a:r>
            <a:r>
              <a:rPr lang="en-US" sz="1500" dirty="0" smtClean="0">
                <a:solidFill>
                  <a:srgbClr val="C9D0E6"/>
                </a:solidFill>
              </a:rPr>
              <a:t> </a:t>
            </a:r>
            <a:r>
              <a:rPr lang="en-US" sz="1500" dirty="0" err="1" smtClean="0">
                <a:solidFill>
                  <a:srgbClr val="C9D0E6"/>
                </a:solidFill>
              </a:rPr>
              <a:t>Zarifa</a:t>
            </a:r>
            <a:r>
              <a:rPr lang="en-US" sz="1500" dirty="0" smtClean="0">
                <a:solidFill>
                  <a:srgbClr val="C9D0E6"/>
                </a:solidFill>
              </a:rPr>
              <a:t> I24D 202490401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822960"/>
            <a:ext cx="2651760" cy="2651760"/>
          </a:xfrm>
          <a:prstGeom prst="ellipse">
            <a:avLst/>
          </a:prstGeom>
          <a:solidFill>
            <a:srgbClr val="F05D5E"/>
          </a:solidFill>
          <a:ln w="12700">
            <a:solidFill>
              <a:srgbClr val="F05D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82296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</a:rPr>
              <a:t>한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8138160" y="3291840"/>
            <a:ext cx="1005840" cy="1005840"/>
          </a:xfrm>
          <a:prstGeom prst="ellipse">
            <a:avLst/>
          </a:prstGeom>
          <a:solidFill>
            <a:srgbClr val="5FC9B3"/>
          </a:solidFill>
          <a:ln w="12700">
            <a:solidFill>
              <a:srgbClr val="5FC9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0" y="3291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</a:rPr>
              <a:t>TOPIK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52160" y="3566160"/>
            <a:ext cx="548640" cy="548640"/>
          </a:xfrm>
          <a:prstGeom prst="ellipse">
            <a:avLst/>
          </a:prstGeom>
          <a:solidFill>
            <a:srgbClr val="3A4474"/>
          </a:solidFill>
          <a:ln w="12700">
            <a:solidFill>
              <a:srgbClr val="3A44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05D5E"/>
                </a:solidFill>
              </a:rPr>
              <a:t>REQUIREMENT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Kokoa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FC9B3"/>
                </a:solidFill>
              </a:rPr>
              <a:t>TOPIK &amp; Korean Learning App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0E6"/>
                </a:solidFill>
              </a:rPr>
              <a:t>Learn Korean step by step and prepare for the TOPIK exam with vocabulary, grammar, listening, reading and practice tests.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822960"/>
            <a:ext cx="2651760" cy="2651760"/>
          </a:xfrm>
          <a:prstGeom prst="ellipse">
            <a:avLst/>
          </a:prstGeom>
          <a:solidFill>
            <a:srgbClr val="F05D5E"/>
          </a:solidFill>
          <a:ln w="12700">
            <a:solidFill>
              <a:srgbClr val="F05D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82296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</a:rPr>
              <a:t>한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8138160" y="3291840"/>
            <a:ext cx="1005840" cy="1005840"/>
          </a:xfrm>
          <a:prstGeom prst="ellipse">
            <a:avLst/>
          </a:prstGeom>
          <a:solidFill>
            <a:srgbClr val="5FC9B3"/>
          </a:solidFill>
          <a:ln w="12700">
            <a:solidFill>
              <a:srgbClr val="5FC9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0" y="3291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</a:rPr>
              <a:t>TOPIK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52160" y="3566160"/>
            <a:ext cx="548640" cy="548640"/>
          </a:xfrm>
          <a:prstGeom prst="ellipse">
            <a:avLst/>
          </a:prstGeom>
          <a:solidFill>
            <a:srgbClr val="3A4474"/>
          </a:solidFill>
          <a:ln w="12700">
            <a:solidFill>
              <a:srgbClr val="3A44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35119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&amp; Main User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416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F05D5E"/>
          </a:solidFill>
          <a:ln w="12700">
            <a:solidFill>
              <a:srgbClr val="F05D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45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Purpose of the app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3E8F7"/>
                </a:solidFill>
              </a:rPr>
              <a:t>Kokoa helps users learn Korean and prepare for the TOPIK (Test of Proficiency in Korean) exam.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3E8F7"/>
                </a:solidFill>
              </a:rPr>
              <a:t>It provides learning materials, vocabulary, grammar and practice activities in one place.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41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645920"/>
            <a:ext cx="640080" cy="640080"/>
          </a:xfrm>
          <a:prstGeom prst="ellipse">
            <a:avLst/>
          </a:prstGeom>
          <a:solidFill>
            <a:srgbClr val="5FC9B3"/>
          </a:solidFill>
          <a:ln w="12700">
            <a:solidFill>
              <a:srgbClr val="5FC9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340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645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340"/>
                </a:solidFill>
              </a:rPr>
              <a:t>Main user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468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</a:rPr>
              <a:t>A Korean language learner, especially someone preparing for the TOPIK exam.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83480" y="3383280"/>
            <a:ext cx="338328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D5D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80"/>
                </a:solidFill>
              </a:rPr>
              <a:t>Beginner to advanced levels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83480" y="3776472"/>
            <a:ext cx="338328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D5DA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0" y="3776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80"/>
                </a:solidFill>
              </a:rPr>
              <a:t>Exam-focused practice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3480" y="4169664"/>
            <a:ext cx="338328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D5DA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41696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80"/>
                </a:solidFill>
              </a:rPr>
              <a:t>Learns on a mobile device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rgbClr val="F05D5E"/>
          </a:solidFill>
          <a:ln w="12700">
            <a:solidFill>
              <a:srgbClr val="F05D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</a:rPr>
              <a:t>Account &amp; Progress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340"/>
                </a:solidFill>
              </a:rPr>
              <a:t>User Account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5B6480"/>
                </a:solidFill>
              </a:rPr>
              <a:t>Create account, manage learning profile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340"/>
                </a:solidFill>
              </a:rPr>
              <a:t>Level-Based Learning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5B6480"/>
                </a:solidFill>
              </a:rPr>
              <a:t>Content organized by Korean level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340"/>
                </a:solidFill>
              </a:rPr>
              <a:t>Progress Tracking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5B6480"/>
                </a:solidFill>
              </a:rPr>
              <a:t>Records progress and test results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417320"/>
            <a:ext cx="411480" cy="411480"/>
          </a:xfrm>
          <a:prstGeom prst="ellipse">
            <a:avLst/>
          </a:prstGeom>
          <a:solidFill>
            <a:srgbClr val="5FC9B3"/>
          </a:solidFill>
          <a:ln w="12700">
            <a:solidFill>
              <a:srgbClr val="5FC9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</a:rPr>
              <a:t>Korean Learning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6596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340"/>
                </a:solidFill>
              </a:rPr>
              <a:t>Vocabulary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5B6480"/>
                </a:solidFill>
              </a:rPr>
              <a:t>Learn and review words and meanings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340"/>
                </a:solidFill>
              </a:rPr>
              <a:t>Grammar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5B6480"/>
                </a:solidFill>
              </a:rPr>
              <a:t>Explanations and examples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340"/>
                </a:solidFill>
              </a:rPr>
              <a:t>Reading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5B6480"/>
                </a:solidFill>
              </a:rPr>
              <a:t>Texts with comprehension questions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340"/>
                </a:solidFill>
              </a:rPr>
              <a:t>Listening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5B6480"/>
                </a:solidFill>
              </a:rPr>
              <a:t>Audio to practice spoken Korean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417320"/>
            <a:ext cx="411480" cy="411480"/>
          </a:xfrm>
          <a:prstGeom prst="ellipse">
            <a:avLst/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</a:rPr>
              <a:t>Practice &amp; Review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96596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340"/>
                </a:solidFill>
              </a:rPr>
              <a:t>TOPIK Preparation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5B6480"/>
                </a:solidFill>
              </a:rPr>
              <a:t>Practice questions by TOPIK level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340"/>
                </a:solidFill>
              </a:rPr>
              <a:t>Quizzes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5B6480"/>
                </a:solidFill>
              </a:rPr>
              <a:t>Check knowledge quickly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340"/>
                </a:solidFill>
              </a:rPr>
              <a:t>Review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5B6480"/>
                </a:solidFill>
              </a:rPr>
              <a:t>Revisit materials and wrong answers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8595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F05D5E"/>
          </a:solidFill>
          <a:ln w="12700">
            <a:solidFill>
              <a:srgbClr val="F05D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1520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</a:rPr>
              <a:t>Usability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15201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</a:rPr>
              <a:t>Simple and easy to navigate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71750" y="1280160"/>
            <a:ext cx="188595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54630" y="1463040"/>
            <a:ext cx="384048" cy="384048"/>
          </a:xfrm>
          <a:prstGeom prst="ellipse">
            <a:avLst/>
          </a:prstGeom>
          <a:solidFill>
            <a:srgbClr val="5FC9B3"/>
          </a:solidFill>
          <a:ln w="12700">
            <a:solidFill>
              <a:srgbClr val="5FC9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463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54630" y="1920240"/>
            <a:ext cx="1520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</a:rPr>
              <a:t>Performance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54630" y="2240280"/>
            <a:ext cx="15201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</a:rPr>
              <a:t>Lessons and questions load quickly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1280160"/>
            <a:ext cx="188595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9180" y="1463040"/>
            <a:ext cx="384048" cy="384048"/>
          </a:xfrm>
          <a:prstGeom prst="ellipse">
            <a:avLst/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91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69180" y="1920240"/>
            <a:ext cx="1520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</a:rPr>
              <a:t>Reliability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69180" y="2240280"/>
            <a:ext cx="15201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</a:rPr>
              <a:t>Progress and results saved accurately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00850" y="1280160"/>
            <a:ext cx="188595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83730" y="1463040"/>
            <a:ext cx="384048" cy="384048"/>
          </a:xfrm>
          <a:prstGeom prst="ellipse">
            <a:avLst/>
          </a:prstGeom>
          <a:solidFill>
            <a:srgbClr val="F05D5E"/>
          </a:solidFill>
          <a:ln w="12700">
            <a:solidFill>
              <a:srgbClr val="F05D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8373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83730" y="1920240"/>
            <a:ext cx="1520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</a:rPr>
              <a:t>Security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83730" y="2240280"/>
            <a:ext cx="15201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</a:rPr>
              <a:t>User account information is protected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188595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5FC9B3"/>
          </a:solidFill>
          <a:ln w="12700">
            <a:solidFill>
              <a:srgbClr val="5FC9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749040"/>
            <a:ext cx="1520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</a:rPr>
              <a:t>Compatibility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069080"/>
            <a:ext cx="15201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</a:rPr>
              <a:t>Works properly on supported mobile devices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571750" y="3108960"/>
            <a:ext cx="188595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54630" y="3291840"/>
            <a:ext cx="384048" cy="384048"/>
          </a:xfrm>
          <a:prstGeom prst="ellipse">
            <a:avLst/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5463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754630" y="3749040"/>
            <a:ext cx="1520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</a:rPr>
              <a:t>Accessibility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2754630" y="4069080"/>
            <a:ext cx="15201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</a:rPr>
              <a:t>Learning materials are clear and readable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86300" y="3108960"/>
            <a:ext cx="188595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9180" y="3291840"/>
            <a:ext cx="384048" cy="384048"/>
          </a:xfrm>
          <a:prstGeom prst="ellipse">
            <a:avLst/>
          </a:prstGeom>
          <a:solidFill>
            <a:srgbClr val="F05D5E"/>
          </a:solidFill>
          <a:ln w="12700">
            <a:solidFill>
              <a:srgbClr val="F05D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691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869180" y="3749040"/>
            <a:ext cx="1520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</a:rPr>
              <a:t>Maintainability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869180" y="4069080"/>
            <a:ext cx="15201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</a:rPr>
              <a:t>New materials and TOPIK questions can be added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00850" y="3108960"/>
            <a:ext cx="1885950" cy="1645920"/>
          </a:xfrm>
          <a:prstGeom prst="roundRect">
            <a:avLst>
              <a:gd name="adj" fmla="val 666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83730" y="3246120"/>
            <a:ext cx="15201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Quality that keeps learners studying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User Needs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011680" cy="2011680"/>
          </a:xfrm>
          <a:prstGeom prst="ellipse">
            <a:avLst/>
          </a:prstGeom>
          <a:solidFill>
            <a:srgbClr val="F05D5E"/>
          </a:solidFill>
          <a:ln w="12700">
            <a:solidFill>
              <a:srgbClr val="F05D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</a:rPr>
              <a:t>한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49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0E6"/>
                </a:solidFill>
              </a:rPr>
              <a:t>A Korean learner who wants to prepare for TOPIK systematically.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23360" y="1234440"/>
            <a:ext cx="4663440" cy="420624"/>
          </a:xfrm>
          <a:prstGeom prst="roundRect">
            <a:avLst>
              <a:gd name="adj" fmla="val 50000"/>
            </a:avLst>
          </a:prstGeom>
          <a:solidFill>
            <a:srgbClr val="2A3563"/>
          </a:solidFill>
          <a:ln w="12700">
            <a:solidFill>
              <a:srgbClr val="2A3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9080" y="1271016"/>
            <a:ext cx="347472" cy="347472"/>
          </a:xfrm>
          <a:prstGeom prst="ellipse">
            <a:avLst/>
          </a:prstGeom>
          <a:solidFill>
            <a:srgbClr val="5FC9B3"/>
          </a:solidFill>
          <a:ln w="12700">
            <a:solidFill>
              <a:srgbClr val="5FC9B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69080" y="1271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23444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Learn Korean vocabulary and grammar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23360" y="1737360"/>
            <a:ext cx="4663440" cy="420624"/>
          </a:xfrm>
          <a:prstGeom prst="roundRect">
            <a:avLst>
              <a:gd name="adj" fmla="val 50000"/>
            </a:avLst>
          </a:prstGeom>
          <a:solidFill>
            <a:srgbClr val="2A3563"/>
          </a:solidFill>
          <a:ln w="12700">
            <a:solidFill>
              <a:srgbClr val="2A35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773936"/>
            <a:ext cx="347472" cy="347472"/>
          </a:xfrm>
          <a:prstGeom prst="ellipse">
            <a:avLst/>
          </a:prstGeom>
          <a:solidFill>
            <a:srgbClr val="5FC9B3"/>
          </a:solidFill>
          <a:ln w="12700">
            <a:solidFill>
              <a:srgbClr val="5FC9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69080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73736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Improve reading and listening skills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23360" y="2240280"/>
            <a:ext cx="4663440" cy="420624"/>
          </a:xfrm>
          <a:prstGeom prst="roundRect">
            <a:avLst>
              <a:gd name="adj" fmla="val 50000"/>
            </a:avLst>
          </a:prstGeom>
          <a:solidFill>
            <a:srgbClr val="2A3563"/>
          </a:solidFill>
          <a:ln w="12700">
            <a:solidFill>
              <a:srgbClr val="2A35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2276856"/>
            <a:ext cx="347472" cy="347472"/>
          </a:xfrm>
          <a:prstGeom prst="ellipse">
            <a:avLst/>
          </a:prstGeom>
          <a:solidFill>
            <a:srgbClr val="5FC9B3"/>
          </a:solidFill>
          <a:ln w="12700">
            <a:solidFill>
              <a:srgbClr val="5FC9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6908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2402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Practice TOPIK questions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23360" y="2743200"/>
            <a:ext cx="4663440" cy="420624"/>
          </a:xfrm>
          <a:prstGeom prst="roundRect">
            <a:avLst>
              <a:gd name="adj" fmla="val 50000"/>
            </a:avLst>
          </a:prstGeom>
          <a:solidFill>
            <a:srgbClr val="2A3563"/>
          </a:solidFill>
          <a:ln w="12700">
            <a:solidFill>
              <a:srgbClr val="2A35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69080" y="2779776"/>
            <a:ext cx="347472" cy="347472"/>
          </a:xfrm>
          <a:prstGeom prst="ellipse">
            <a:avLst/>
          </a:prstGeom>
          <a:solidFill>
            <a:srgbClr val="5FC9B3"/>
          </a:solidFill>
          <a:ln w="12700">
            <a:solidFill>
              <a:srgbClr val="5FC9B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6908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27432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Check knowledge through quizzes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23360" y="3246120"/>
            <a:ext cx="4663440" cy="420624"/>
          </a:xfrm>
          <a:prstGeom prst="roundRect">
            <a:avLst>
              <a:gd name="adj" fmla="val 50000"/>
            </a:avLst>
          </a:prstGeom>
          <a:solidFill>
            <a:srgbClr val="2A3563"/>
          </a:solidFill>
          <a:ln w="12700">
            <a:solidFill>
              <a:srgbClr val="2A35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9080" y="3282696"/>
            <a:ext cx="347472" cy="347472"/>
          </a:xfrm>
          <a:prstGeom prst="ellipse">
            <a:avLst/>
          </a:prstGeom>
          <a:solidFill>
            <a:srgbClr val="5FC9B3"/>
          </a:solidFill>
          <a:ln w="12700">
            <a:solidFill>
              <a:srgbClr val="5FC9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6908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32461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Track learning progress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023360" y="3749040"/>
            <a:ext cx="4663440" cy="420624"/>
          </a:xfrm>
          <a:prstGeom prst="roundRect">
            <a:avLst>
              <a:gd name="adj" fmla="val 50000"/>
            </a:avLst>
          </a:prstGeom>
          <a:solidFill>
            <a:srgbClr val="2A3563"/>
          </a:solidFill>
          <a:ln w="12700">
            <a:solidFill>
              <a:srgbClr val="2A35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9080" y="3785616"/>
            <a:ext cx="347472" cy="347472"/>
          </a:xfrm>
          <a:prstGeom prst="ellipse">
            <a:avLst/>
          </a:prstGeom>
          <a:solidFill>
            <a:srgbClr val="5FC9B3"/>
          </a:solidFill>
          <a:ln w="12700">
            <a:solidFill>
              <a:srgbClr val="5FC9B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069080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374904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Review mistakes and difficult materials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023360" y="4251960"/>
            <a:ext cx="4663440" cy="420624"/>
          </a:xfrm>
          <a:prstGeom prst="roundRect">
            <a:avLst>
              <a:gd name="adj" fmla="val 50000"/>
            </a:avLst>
          </a:prstGeom>
          <a:solidFill>
            <a:srgbClr val="2A3563"/>
          </a:solidFill>
          <a:ln w="12700">
            <a:solidFill>
              <a:srgbClr val="2A35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9080" y="4288536"/>
            <a:ext cx="347472" cy="347472"/>
          </a:xfrm>
          <a:prstGeom prst="ellipse">
            <a:avLst/>
          </a:prstGeom>
          <a:solidFill>
            <a:srgbClr val="F05D5E"/>
          </a:solidFill>
          <a:ln w="12700">
            <a:solidFill>
              <a:srgbClr val="F05D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69080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425196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Prepare for the TOPIK exam systematically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319</Words>
  <Application>Microsoft Office PowerPoint</Application>
  <PresentationFormat>Экран (16:9)</PresentationFormat>
  <Paragraphs>99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Kokoa - Requirement Analysis</dc:title>
  <dc:subject>PptxGenJS Presentation</dc:subject>
  <dc:creator>PptxGenJS</dc:creator>
  <cp:lastModifiedBy>Ajou students</cp:lastModifiedBy>
  <cp:revision>2</cp:revision>
  <dcterms:created xsi:type="dcterms:W3CDTF">2026-10-02T09:06:33Z</dcterms:created>
  <dcterms:modified xsi:type="dcterms:W3CDTF">2026-10-02T09:37:09Z</dcterms:modified>
</cp:coreProperties>
</file>