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297da46-76a7-71fc-80d8-eb13fd8a8e95}">
          <p14:sldIdLst>
            <p14:sldId id="256"/>
          </p14:sldIdLst>
        </p14:section>
        <p14:section name="Project Plan" id="{da3d8224-b609-1096-dac4-9f19691ffdee}">
          <p14:sldIdLst>
            <p14:sldId id="257"/>
            <p14:sldId id="258"/>
          </p14:sldIdLst>
        </p14:section>
        <p14:section name="Contract" id="{fa596293-e3cc-3307-5a06-847194dd1738}">
          <p14:sldIdLst>
            <p14:sldId id="259"/>
            <p14:sldId id="260"/>
          </p14:sldIdLst>
        </p14:section>
        <p14:section name="Modeling" id="{b11ec2a0-a80d-6055-3319-6de8508c6bd9}">
          <p14:sldIdLst>
            <p14:sldId id="261"/>
            <p14:sldId id="262"/>
            <p14:sldId id="263"/>
          </p14:sldIdLst>
        </p14:section>
        <p14:section name="Schedule" id="{3b7b4db5-4bc6-f529-bdf9-553c644b9560}">
          <p14:sldIdLst>
            <p14:sldId id="264"/>
          </p14:sldIdLst>
        </p14:section>
        <p14:section name="Conclusion" id="{bf50693d-c443-ce8e-bbbc-49f9c3a9647a}">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Introduce Team DRM and the project: a website for the online cosmetics shop Zetmart_uz, built with AI tools, Google Sites and Google Sheets. This report covers six deliverables: project plan, contract, use case model, business process model, work breakdown structure and Gantt 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business problem first: no single online presence, scattered product data, manual order handling. Then walk through the four questions that guide the design, and end with the three outputs the customer will receive.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stack is no-code: Google Sites for the website, GitHub for version history, Google Sheets as the database, AI tools for content and design. Data preparation has three steps: ingest, clean, and add helper columns with spreadsheet formulas.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contract fixes what we will and will not build. Stress the boundary: functions not listed, such as online payment processing, a custom back-end or mobile apps, are outside the current scope. Timeline is October to December 2026 with no monetary budget.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each team member and role. Then the agreement guidelines: what the customer must provide, what the team commits to, and how scope changes and approval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actors. The customer drives the main flow: search, shade finder, cart, order, payment, review. The manager maintains inventory, promotions and sales reports and assigns orders to couriers. The courier receives assignments and updates status. Payment goes through local Uzbek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one order from left to right. The customer starts the process, the order system checks stock and either cancels or packs the order, payment is confirmed through local payment systems, and logistics deliver and confirm. The process ends when the order is fulfilled and delivered.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WBS breaks the project into six phases and 21 work packages. Development is the biggest, with six packages. Each work package is later scheduled in the Gantt chart, and the numbering matches between the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schedule fits inside the October to December window. Work flows planning, design, development, testing, deployment. Documentation overlaps testing and deployment. Predecessors in the chart show which tasks block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six deliverables, then the next steps: build, set up data, test, launch.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4A1D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713232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Team DRM  |  Zetmart_uz Online Cosmetics Ordering System</a:t>
            </a:r>
            <a:endParaRPr lang="en-US" sz="10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4A1D3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4.xml"/><Relationship Id="rId8"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731520" y="1325880"/>
            <a:ext cx="7315200" cy="320040"/>
          </a:xfrm>
          <a:prstGeom prst="rect">
            <a:avLst/>
          </a:prstGeom>
          <a:noFill/>
          <a:ln/>
        </p:spPr>
        <p:txBody>
          <a:bodyPr wrap="square" lIns="0" tIns="0" rIns="0" bIns="0" rtlCol="0" anchor="ctr"/>
          <a:lstStyle/>
          <a:p>
            <a:pPr indent="0" marL="0">
              <a:buNone/>
            </a:pPr>
            <a:r>
              <a:rPr lang="en-US" sz="1400" b="1" spc="300" kern="0" dirty="0">
                <a:solidFill>
                  <a:schemeClr val="accent2"/>
                </a:solidFill>
              </a:rPr>
              <a:t>IT PROJECT MANAGEMENT  |  PROJECT REPORT</a:t>
            </a:r>
            <a:endParaRPr lang="en-US" sz="1400" dirty="0"/>
          </a:p>
        </p:txBody>
      </p:sp>
      <p:sp>
        <p:nvSpPr>
          <p:cNvPr id="3" name="Text 0"/>
          <p:cNvSpPr/>
          <p:nvPr>
            <p:ph idx="100" type="title" hasCustomPrompt="1"/>
          </p:nvPr>
        </p:nvSpPr>
        <p:spPr>
          <a:xfrm>
            <a:off x="731520" y="1828800"/>
            <a:ext cx="7132320" cy="1737360"/>
          </a:xfrm>
          <a:prstGeom prst="rect">
            <a:avLst/>
          </a:prstGeom>
          <a:noFill/>
          <a:ln/>
        </p:spPr>
        <p:txBody>
          <a:bodyPr wrap="square" lIns="0" tIns="0" rIns="0" bIns="0" rtlCol="0" anchor="t"/>
          <a:lstStyle/>
          <a:p>
            <a:pPr algn="l" indent="0" marL="0">
              <a:buNone/>
            </a:pPr>
            <a:r>
              <a:rPr lang="en-US" sz="4400" b="1" dirty="0">
                <a:solidFill>
                  <a:schemeClr val="bg1"/>
                </a:solidFill>
              </a:rPr>
              <a:t>Online Cosmetics Ordering System</a:t>
            </a:r>
            <a:endParaRPr lang="en-US" sz="4400" dirty="0"/>
          </a:p>
        </p:txBody>
      </p:sp>
      <p:sp>
        <p:nvSpPr>
          <p:cNvPr id="4" name="text-2"/>
          <p:cNvSpPr txBox="1"/>
          <p:nvPr/>
        </p:nvSpPr>
        <p:spPr>
          <a:xfrm>
            <a:off x="731520" y="3703320"/>
            <a:ext cx="7132320" cy="411480"/>
          </a:xfrm>
          <a:prstGeom prst="rect">
            <a:avLst/>
          </a:prstGeom>
          <a:noFill/>
          <a:ln/>
        </p:spPr>
        <p:txBody>
          <a:bodyPr wrap="square" lIns="0" tIns="0" rIns="0" bIns="0" rtlCol="0" anchor="ctr"/>
          <a:lstStyle/>
          <a:p>
            <a:pPr indent="0" marL="0">
              <a:buNone/>
            </a:pPr>
            <a:r>
              <a:rPr lang="en-US" sz="2000" dirty="0">
                <a:solidFill>
                  <a:schemeClr val="bg2"/>
                </a:solidFill>
              </a:rPr>
              <a:t>Website project for the online cosmetics shop Zetmart_uz</a:t>
            </a:r>
            <a:endParaRPr lang="en-US" sz="2000" dirty="0"/>
          </a:p>
        </p:txBody>
      </p:sp>
      <p:sp>
        <p:nvSpPr>
          <p:cNvPr id="5" name="text-3"/>
          <p:cNvSpPr txBox="1"/>
          <p:nvPr/>
        </p:nvSpPr>
        <p:spPr>
          <a:xfrm>
            <a:off x="731520" y="4937760"/>
            <a:ext cx="7498080" cy="731520"/>
          </a:xfrm>
          <a:prstGeom prst="rect">
            <a:avLst/>
          </a:prstGeom>
          <a:noFill/>
          <a:ln/>
        </p:spPr>
        <p:txBody>
          <a:bodyPr wrap="square" lIns="0" tIns="0" rIns="0" bIns="0" rtlCol="0" anchor="t"/>
          <a:lstStyle/>
          <a:p>
            <a:pPr indent="0" marL="0">
              <a:spcAft>
                <a:spcPts val="400"/>
              </a:spcAft>
              <a:buNone/>
            </a:pPr>
            <a:r>
              <a:rPr lang="en-US" sz="1600" b="1" dirty="0">
                <a:solidFill>
                  <a:schemeClr val="accent2"/>
                </a:solidFill>
              </a:rPr>
              <a:t>Team DRM</a:t>
            </a:r>
            <a:endParaRPr lang="en-US" sz="1600" dirty="0"/>
          </a:p>
          <a:p>
            <a:pPr indent="0" marL="0">
              <a:spcAft>
                <a:spcPts val="400"/>
              </a:spcAft>
              <a:buNone/>
            </a:pPr>
            <a:r>
              <a:rPr lang="en-US" sz="1600" dirty="0">
                <a:solidFill>
                  <a:schemeClr val="bg1"/>
                </a:solidFill>
              </a:rPr>
              <a:t>Usenadinova Dilaram  ·  Baxtiyorova Ruxshona  ·  Ergasheva Madinabonu</a:t>
            </a:r>
            <a:endParaRPr lang="en-US" sz="1600" dirty="0"/>
          </a:p>
        </p:txBody>
      </p:sp>
      <p:sp>
        <p:nvSpPr>
          <p:cNvPr id="6" name="deco-large"/>
          <p:cNvSpPr/>
          <p:nvPr/>
        </p:nvSpPr>
        <p:spPr>
          <a:xfrm>
            <a:off x="8321040" y="1005840"/>
            <a:ext cx="3566160" cy="3566160"/>
          </a:xfrm>
          <a:prstGeom prst="ellipse">
            <a:avLst/>
          </a:prstGeom>
          <a:solidFill>
            <a:schemeClr val="accent1"/>
          </a:solidFill>
          <a:ln w="12700">
            <a:solidFill>
              <a:srgbClr val="B5536C"/>
            </a:solidFill>
            <a:prstDash val="solid"/>
          </a:ln>
        </p:spPr>
      </p:sp>
      <p:sp>
        <p:nvSpPr>
          <p:cNvPr id="7" name="deco-gold"/>
          <p:cNvSpPr/>
          <p:nvPr/>
        </p:nvSpPr>
        <p:spPr>
          <a:xfrm>
            <a:off x="9784080" y="3566160"/>
            <a:ext cx="2286000" cy="2286000"/>
          </a:xfrm>
          <a:prstGeom prst="ellipse">
            <a:avLst/>
          </a:prstGeom>
          <a:solidFill>
            <a:schemeClr val="accent2">
              <a:alpha val="75000"/>
            </a:schemeClr>
          </a:solidFill>
          <a:ln w="12700">
            <a:solidFill>
              <a:srgbClr val="C9A66B"/>
            </a:solidFill>
            <a:prstDash val="solid"/>
          </a:ln>
        </p:spPr>
      </p:sp>
      <p:sp>
        <p:nvSpPr>
          <p:cNvPr id="8" name="deco-blush"/>
          <p:cNvSpPr/>
          <p:nvPr/>
        </p:nvSpPr>
        <p:spPr>
          <a:xfrm>
            <a:off x="7955280" y="4297680"/>
            <a:ext cx="1463040" cy="1463040"/>
          </a:xfrm>
          <a:prstGeom prst="ellipse">
            <a:avLst/>
          </a:prstGeom>
          <a:solidFill>
            <a:schemeClr val="accent4">
              <a:alpha val="55000"/>
            </a:schemeClr>
          </a:solidFill>
          <a:ln w="12700">
            <a:solidFill>
              <a:srgbClr val="E4B7C2"/>
            </a:solidFill>
            <a:prstDash val="solid"/>
          </a:ln>
        </p:spPr>
      </p:sp>
      <p:sp>
        <p:nvSpPr>
          <p:cNvPr id="9" name="text-4"/>
          <p:cNvSpPr txBox="1"/>
          <p:nvPr/>
        </p:nvSpPr>
        <p:spPr>
          <a:xfrm>
            <a:off x="8321040" y="2194560"/>
            <a:ext cx="3566160" cy="1097280"/>
          </a:xfrm>
          <a:prstGeom prst="rect">
            <a:avLst/>
          </a:prstGeom>
          <a:noFill/>
          <a:ln/>
        </p:spPr>
        <p:txBody>
          <a:bodyPr wrap="square" lIns="0" tIns="0" rIns="0" bIns="0" rtlCol="0" anchor="ctr"/>
          <a:lstStyle/>
          <a:p>
            <a:pPr algn="ctr" indent="0" marL="0">
              <a:buNone/>
            </a:pPr>
            <a:r>
              <a:rPr lang="en-US" sz="5600" b="1" dirty="0">
                <a:solidFill>
                  <a:schemeClr val="bg1"/>
                </a:solidFill>
                <a:latin typeface="Cambria" pitchFamily="34" charset="0"/>
                <a:ea typeface="Cambria" pitchFamily="34" charset="-122"/>
                <a:cs typeface="Cambria" pitchFamily="34" charset="-120"/>
              </a:rPr>
              <a:t>DRM</a:t>
            </a:r>
            <a:endParaRPr lang="en-US" sz="5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Project Plan: Problem and Objectives</a:t>
            </a:r>
            <a:endParaRPr lang="en-US" sz="3400" dirty="0"/>
          </a:p>
        </p:txBody>
      </p:sp>
      <p:sp>
        <p:nvSpPr>
          <p:cNvPr id="3" name="card-5"/>
          <p:cNvSpPr/>
          <p:nvPr/>
        </p:nvSpPr>
        <p:spPr>
          <a:xfrm>
            <a:off x="548640" y="1371600"/>
            <a:ext cx="4754880" cy="2743200"/>
          </a:xfrm>
          <a:prstGeom prst="roundRect">
            <a:avLst>
              <a:gd name="adj" fmla="val 4000"/>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4" name="text-6"/>
          <p:cNvSpPr txBox="1"/>
          <p:nvPr/>
        </p:nvSpPr>
        <p:spPr>
          <a:xfrm>
            <a:off x="868680" y="1645920"/>
            <a:ext cx="4114800" cy="274320"/>
          </a:xfrm>
          <a:prstGeom prst="rect">
            <a:avLst/>
          </a:prstGeom>
          <a:noFill/>
          <a:ln/>
        </p:spPr>
        <p:txBody>
          <a:bodyPr wrap="square" lIns="0" tIns="0" rIns="0" bIns="0" rtlCol="0" anchor="ctr"/>
          <a:lstStyle/>
          <a:p>
            <a:pPr indent="0" marL="0">
              <a:buNone/>
            </a:pPr>
            <a:r>
              <a:rPr lang="en-US" sz="1400" b="1" spc="200" kern="0" dirty="0">
                <a:solidFill>
                  <a:schemeClr val="accent2"/>
                </a:solidFill>
              </a:rPr>
              <a:t>CORE PROBLEM</a:t>
            </a:r>
            <a:endParaRPr lang="en-US" sz="1400" dirty="0"/>
          </a:p>
        </p:txBody>
      </p:sp>
      <p:sp>
        <p:nvSpPr>
          <p:cNvPr id="5" name="text-7"/>
          <p:cNvSpPr txBox="1"/>
          <p:nvPr/>
        </p:nvSpPr>
        <p:spPr>
          <a:xfrm>
            <a:off x="868680" y="2057400"/>
            <a:ext cx="4114800" cy="1828800"/>
          </a:xfrm>
          <a:prstGeom prst="rect">
            <a:avLst/>
          </a:prstGeom>
          <a:noFill/>
          <a:ln/>
        </p:spPr>
        <p:txBody>
          <a:bodyPr wrap="square" lIns="0" tIns="0" rIns="0" bIns="0" rtlCol="0" anchor="t"/>
          <a:lstStyle/>
          <a:p>
            <a:pPr indent="0" marL="0">
              <a:buNone/>
            </a:pPr>
            <a:r>
              <a:rPr lang="en-US" sz="1600" dirty="0">
                <a:solidFill>
                  <a:schemeClr val="bg1"/>
                </a:solidFill>
              </a:rPr>
              <a:t>Zetmart_uz lacks a single professional online presence. Product information is scattered, and customer inquiries and orders are handled manually, which is slow and leads to missed or inaccurate requests.</a:t>
            </a:r>
            <a:endParaRPr lang="en-US" sz="1600" dirty="0"/>
          </a:p>
        </p:txBody>
      </p:sp>
      <p:sp>
        <p:nvSpPr>
          <p:cNvPr id="6" name="text-8"/>
          <p:cNvSpPr txBox="1"/>
          <p:nvPr/>
        </p:nvSpPr>
        <p:spPr>
          <a:xfrm>
            <a:off x="5669280" y="1371600"/>
            <a:ext cx="5943600" cy="365760"/>
          </a:xfrm>
          <a:prstGeom prst="rect">
            <a:avLst/>
          </a:prstGeom>
          <a:noFill/>
          <a:ln/>
        </p:spPr>
        <p:txBody>
          <a:bodyPr wrap="square" lIns="0" tIns="0" rIns="0" bIns="0" rtlCol="0" anchor="ctr"/>
          <a:lstStyle/>
          <a:p>
            <a:pPr indent="0" marL="0">
              <a:buNone/>
            </a:pPr>
            <a:r>
              <a:rPr lang="en-US" sz="2000" b="1" dirty="0">
                <a:solidFill>
                  <a:schemeClr val="tx2"/>
                </a:solidFill>
              </a:rPr>
              <a:t>Key questions</a:t>
            </a:r>
            <a:endParaRPr lang="en-US" sz="2000" dirty="0"/>
          </a:p>
        </p:txBody>
      </p:sp>
      <p:sp>
        <p:nvSpPr>
          <p:cNvPr id="7" name="num-9"/>
          <p:cNvSpPr/>
          <p:nvPr/>
        </p:nvSpPr>
        <p:spPr>
          <a:xfrm>
            <a:off x="5669280" y="1920240"/>
            <a:ext cx="384048" cy="384048"/>
          </a:xfrm>
          <a:prstGeom prst="ellipse">
            <a:avLst/>
          </a:prstGeom>
          <a:solidFill>
            <a:schemeClr val="accent1"/>
          </a:solidFill>
          <a:ln w="12700">
            <a:solidFill>
              <a:srgbClr val="B5536C"/>
            </a:solidFill>
            <a:prstDash val="solid"/>
          </a:ln>
        </p:spPr>
      </p:sp>
      <p:sp>
        <p:nvSpPr>
          <p:cNvPr id="8" name="text-10"/>
          <p:cNvSpPr txBox="1"/>
          <p:nvPr/>
        </p:nvSpPr>
        <p:spPr>
          <a:xfrm>
            <a:off x="5669280" y="1920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9" name="text-11"/>
          <p:cNvSpPr txBox="1"/>
          <p:nvPr/>
        </p:nvSpPr>
        <p:spPr>
          <a:xfrm>
            <a:off x="6263640" y="1874520"/>
            <a:ext cx="5349240" cy="475488"/>
          </a:xfrm>
          <a:prstGeom prst="rect">
            <a:avLst/>
          </a:prstGeom>
          <a:noFill/>
          <a:ln/>
        </p:spPr>
        <p:txBody>
          <a:bodyPr wrap="square" lIns="0" tIns="0" rIns="0" bIns="0" rtlCol="0" anchor="ctr"/>
          <a:lstStyle/>
          <a:p>
            <a:pPr indent="0" marL="0">
              <a:buNone/>
            </a:pPr>
            <a:r>
              <a:rPr lang="en-US" sz="1400" dirty="0">
                <a:solidFill>
                  <a:schemeClr val="tx1"/>
                </a:solidFill>
              </a:rPr>
              <a:t>Which product categories do customers browse and request the most?</a:t>
            </a:r>
            <a:endParaRPr lang="en-US" sz="1400" dirty="0"/>
          </a:p>
        </p:txBody>
      </p:sp>
      <p:sp>
        <p:nvSpPr>
          <p:cNvPr id="10" name="num-12"/>
          <p:cNvSpPr/>
          <p:nvPr/>
        </p:nvSpPr>
        <p:spPr>
          <a:xfrm>
            <a:off x="5669280" y="2487168"/>
            <a:ext cx="384048" cy="384048"/>
          </a:xfrm>
          <a:prstGeom prst="ellipse">
            <a:avLst/>
          </a:prstGeom>
          <a:solidFill>
            <a:schemeClr val="accent1"/>
          </a:solidFill>
          <a:ln w="12700">
            <a:solidFill>
              <a:srgbClr val="B5536C"/>
            </a:solidFill>
            <a:prstDash val="solid"/>
          </a:ln>
        </p:spPr>
      </p:sp>
      <p:sp>
        <p:nvSpPr>
          <p:cNvPr id="11" name="text-13"/>
          <p:cNvSpPr txBox="1"/>
          <p:nvPr/>
        </p:nvSpPr>
        <p:spPr>
          <a:xfrm>
            <a:off x="5669280" y="24871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2" name="text-14"/>
          <p:cNvSpPr txBox="1"/>
          <p:nvPr/>
        </p:nvSpPr>
        <p:spPr>
          <a:xfrm>
            <a:off x="6263640" y="2441448"/>
            <a:ext cx="5349240" cy="475488"/>
          </a:xfrm>
          <a:prstGeom prst="rect">
            <a:avLst/>
          </a:prstGeom>
          <a:noFill/>
          <a:ln/>
        </p:spPr>
        <p:txBody>
          <a:bodyPr wrap="square" lIns="0" tIns="0" rIns="0" bIns="0" rtlCol="0" anchor="ctr"/>
          <a:lstStyle/>
          <a:p>
            <a:pPr indent="0" marL="0">
              <a:buNone/>
            </a:pPr>
            <a:r>
              <a:rPr lang="en-US" sz="1400" dirty="0">
                <a:solidFill>
                  <a:schemeClr val="tx1"/>
                </a:solidFill>
              </a:rPr>
              <a:t>What information must a product page show so customers feel confident asking to order?</a:t>
            </a:r>
            <a:endParaRPr lang="en-US" sz="1400" dirty="0"/>
          </a:p>
        </p:txBody>
      </p:sp>
      <p:sp>
        <p:nvSpPr>
          <p:cNvPr id="13" name="num-15"/>
          <p:cNvSpPr/>
          <p:nvPr/>
        </p:nvSpPr>
        <p:spPr>
          <a:xfrm>
            <a:off x="5669280" y="3054096"/>
            <a:ext cx="384048" cy="384048"/>
          </a:xfrm>
          <a:prstGeom prst="ellipse">
            <a:avLst/>
          </a:prstGeom>
          <a:solidFill>
            <a:schemeClr val="accent1"/>
          </a:solidFill>
          <a:ln w="12700">
            <a:solidFill>
              <a:srgbClr val="B5536C"/>
            </a:solidFill>
            <a:prstDash val="solid"/>
          </a:ln>
        </p:spPr>
      </p:sp>
      <p:sp>
        <p:nvSpPr>
          <p:cNvPr id="14" name="text-16"/>
          <p:cNvSpPr txBox="1"/>
          <p:nvPr/>
        </p:nvSpPr>
        <p:spPr>
          <a:xfrm>
            <a:off x="5669280" y="305409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17"/>
          <p:cNvSpPr txBox="1"/>
          <p:nvPr/>
        </p:nvSpPr>
        <p:spPr>
          <a:xfrm>
            <a:off x="6263640" y="3008376"/>
            <a:ext cx="5349240" cy="475488"/>
          </a:xfrm>
          <a:prstGeom prst="rect">
            <a:avLst/>
          </a:prstGeom>
          <a:noFill/>
          <a:ln/>
        </p:spPr>
        <p:txBody>
          <a:bodyPr wrap="square" lIns="0" tIns="0" rIns="0" bIns="0" rtlCol="0" anchor="ctr"/>
          <a:lstStyle/>
          <a:p>
            <a:pPr indent="0" marL="0">
              <a:buNone/>
            </a:pPr>
            <a:r>
              <a:rPr lang="en-US" sz="1400" dirty="0">
                <a:solidFill>
                  <a:schemeClr val="tx1"/>
                </a:solidFill>
              </a:rPr>
              <a:t>How can the manager update prices, stock and products without coding?</a:t>
            </a:r>
            <a:endParaRPr lang="en-US" sz="1400" dirty="0"/>
          </a:p>
        </p:txBody>
      </p:sp>
      <p:sp>
        <p:nvSpPr>
          <p:cNvPr id="16" name="num-18"/>
          <p:cNvSpPr/>
          <p:nvPr/>
        </p:nvSpPr>
        <p:spPr>
          <a:xfrm>
            <a:off x="5669280" y="3621024"/>
            <a:ext cx="384048" cy="384048"/>
          </a:xfrm>
          <a:prstGeom prst="ellipse">
            <a:avLst/>
          </a:prstGeom>
          <a:solidFill>
            <a:schemeClr val="accent1"/>
          </a:solidFill>
          <a:ln w="12700">
            <a:solidFill>
              <a:srgbClr val="B5536C"/>
            </a:solidFill>
            <a:prstDash val="solid"/>
          </a:ln>
        </p:spPr>
      </p:sp>
      <p:sp>
        <p:nvSpPr>
          <p:cNvPr id="17" name="text-19"/>
          <p:cNvSpPr txBox="1"/>
          <p:nvPr/>
        </p:nvSpPr>
        <p:spPr>
          <a:xfrm>
            <a:off x="5669280" y="362102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8" name="text-20"/>
          <p:cNvSpPr txBox="1"/>
          <p:nvPr/>
        </p:nvSpPr>
        <p:spPr>
          <a:xfrm>
            <a:off x="6263640" y="3575304"/>
            <a:ext cx="5349240" cy="475488"/>
          </a:xfrm>
          <a:prstGeom prst="rect">
            <a:avLst/>
          </a:prstGeom>
          <a:noFill/>
          <a:ln/>
        </p:spPr>
        <p:txBody>
          <a:bodyPr wrap="square" lIns="0" tIns="0" rIns="0" bIns="0" rtlCol="0" anchor="ctr"/>
          <a:lstStyle/>
          <a:p>
            <a:pPr indent="0" marL="0">
              <a:buNone/>
            </a:pPr>
            <a:r>
              <a:rPr lang="en-US" sz="1400" dirty="0">
                <a:solidFill>
                  <a:schemeClr val="tx1"/>
                </a:solidFill>
              </a:rPr>
              <a:t>How can inquiries be recorded automatically and without errors?</a:t>
            </a:r>
            <a:endParaRPr lang="en-US" sz="1400" dirty="0"/>
          </a:p>
        </p:txBody>
      </p:sp>
      <p:sp>
        <p:nvSpPr>
          <p:cNvPr id="19" name="text-21"/>
          <p:cNvSpPr txBox="1"/>
          <p:nvPr/>
        </p:nvSpPr>
        <p:spPr>
          <a:xfrm>
            <a:off x="548640" y="4389120"/>
            <a:ext cx="5486400" cy="365760"/>
          </a:xfrm>
          <a:prstGeom prst="rect">
            <a:avLst/>
          </a:prstGeom>
          <a:noFill/>
          <a:ln/>
        </p:spPr>
        <p:txBody>
          <a:bodyPr wrap="square" lIns="0" tIns="0" rIns="0" bIns="0" rtlCol="0" anchor="ctr"/>
          <a:lstStyle/>
          <a:p>
            <a:pPr indent="0" marL="0">
              <a:buNone/>
            </a:pPr>
            <a:r>
              <a:rPr lang="en-US" sz="2000" b="1" dirty="0">
                <a:solidFill>
                  <a:schemeClr val="tx2"/>
                </a:solidFill>
              </a:rPr>
              <a:t>Expected deliverables</a:t>
            </a:r>
            <a:endParaRPr lang="en-US" sz="2000" dirty="0"/>
          </a:p>
        </p:txBody>
      </p:sp>
      <p:sp>
        <p:nvSpPr>
          <p:cNvPr id="20" name="card-22"/>
          <p:cNvSpPr/>
          <p:nvPr/>
        </p:nvSpPr>
        <p:spPr>
          <a:xfrm>
            <a:off x="548640" y="4846320"/>
            <a:ext cx="3566160" cy="1417320"/>
          </a:xfrm>
          <a:prstGeom prst="roundRect">
            <a:avLst>
              <a:gd name="adj" fmla="val 7742"/>
            </a:avLst>
          </a:prstGeom>
          <a:solidFill>
            <a:schemeClr val="bg1"/>
          </a:solidFill>
          <a:ln w="12700">
            <a:solidFill>
              <a:schemeClr val="bg1"/>
            </a:solidFill>
            <a:prstDash val="solid"/>
          </a:ln>
        </p:spPr>
      </p:sp>
      <p:sp>
        <p:nvSpPr>
          <p:cNvPr id="21" name="circle-23"/>
          <p:cNvSpPr/>
          <p:nvPr/>
        </p:nvSpPr>
        <p:spPr>
          <a:xfrm>
            <a:off x="777240" y="5074920"/>
            <a:ext cx="548640" cy="548640"/>
          </a:xfrm>
          <a:prstGeom prst="ellipse">
            <a:avLst/>
          </a:prstGeom>
          <a:solidFill>
            <a:schemeClr val="accent1"/>
          </a:solidFill>
          <a:ln w="12700">
            <a:solidFill>
              <a:schemeClr val="accent1"/>
            </a:solidFill>
            <a:prstDash val="solid"/>
          </a:ln>
        </p:spPr>
      </p:sp>
      <p:pic>
        <p:nvPicPr>
          <p:cNvPr id="22" name="icon-24" descr="icon">    </p:cNvPr>
          <p:cNvPicPr>
            <a:picLocks noChangeAspect="1"/>
          </p:cNvPicPr>
          <p:nvPr/>
        </p:nvPicPr>
        <p:blipFill>
          <a:blip r:embed="rId1"/>
          <a:stretch>
            <a:fillRect/>
          </a:stretch>
        </p:blipFill>
        <p:spPr>
          <a:xfrm>
            <a:off x="914400" y="5212080"/>
            <a:ext cx="274320" cy="274320"/>
          </a:xfrm>
          <a:prstGeom prst="rect">
            <a:avLst/>
          </a:prstGeom>
        </p:spPr>
      </p:pic>
      <p:sp>
        <p:nvSpPr>
          <p:cNvPr id="23" name="text-25"/>
          <p:cNvSpPr txBox="1"/>
          <p:nvPr/>
        </p:nvSpPr>
        <p:spPr>
          <a:xfrm>
            <a:off x="1508760" y="5074920"/>
            <a:ext cx="2468880" cy="548640"/>
          </a:xfrm>
          <a:prstGeom prst="rect">
            <a:avLst/>
          </a:prstGeom>
          <a:noFill/>
          <a:ln/>
        </p:spPr>
        <p:txBody>
          <a:bodyPr wrap="square" lIns="0" tIns="0" rIns="0" bIns="0" rtlCol="0" anchor="ctr"/>
          <a:lstStyle/>
          <a:p>
            <a:pPr indent="0" marL="0">
              <a:buNone/>
            </a:pPr>
            <a:r>
              <a:rPr lang="en-US" sz="1600" b="1" dirty="0">
                <a:solidFill>
                  <a:schemeClr val="tx2"/>
                </a:solidFill>
              </a:rPr>
              <a:t>Website</a:t>
            </a:r>
            <a:endParaRPr lang="en-US" sz="1600" dirty="0"/>
          </a:p>
        </p:txBody>
      </p:sp>
      <p:sp>
        <p:nvSpPr>
          <p:cNvPr id="24" name="text-26"/>
          <p:cNvSpPr txBox="1"/>
          <p:nvPr/>
        </p:nvSpPr>
        <p:spPr>
          <a:xfrm>
            <a:off x="777240" y="5715000"/>
            <a:ext cx="3154680" cy="502920"/>
          </a:xfrm>
          <a:prstGeom prst="rect">
            <a:avLst/>
          </a:prstGeom>
          <a:noFill/>
          <a:ln/>
        </p:spPr>
        <p:txBody>
          <a:bodyPr wrap="square" lIns="0" tIns="0" rIns="0" bIns="0" rtlCol="0" anchor="t"/>
          <a:lstStyle/>
          <a:p>
            <a:pPr indent="0" marL="0">
              <a:buNone/>
            </a:pPr>
            <a:r>
              <a:rPr lang="en-US" sz="1400" dirty="0">
                <a:solidFill>
                  <a:schemeClr val="tx1"/>
                </a:solidFill>
              </a:rPr>
              <a:t>Mobile-friendly Zetmart_uz site built with AI on Google Sites</a:t>
            </a:r>
            <a:endParaRPr lang="en-US" sz="1400" dirty="0"/>
          </a:p>
        </p:txBody>
      </p:sp>
      <p:sp>
        <p:nvSpPr>
          <p:cNvPr id="25" name="card-27"/>
          <p:cNvSpPr/>
          <p:nvPr/>
        </p:nvSpPr>
        <p:spPr>
          <a:xfrm>
            <a:off x="4311396" y="4846320"/>
            <a:ext cx="3566160" cy="1417320"/>
          </a:xfrm>
          <a:prstGeom prst="roundRect">
            <a:avLst>
              <a:gd name="adj" fmla="val 7742"/>
            </a:avLst>
          </a:prstGeom>
          <a:solidFill>
            <a:schemeClr val="bg1"/>
          </a:solidFill>
          <a:ln w="12700">
            <a:solidFill>
              <a:schemeClr val="bg1"/>
            </a:solidFill>
            <a:prstDash val="solid"/>
          </a:ln>
        </p:spPr>
      </p:sp>
      <p:sp>
        <p:nvSpPr>
          <p:cNvPr id="26" name="circle-28"/>
          <p:cNvSpPr/>
          <p:nvPr/>
        </p:nvSpPr>
        <p:spPr>
          <a:xfrm>
            <a:off x="4539996" y="5074920"/>
            <a:ext cx="548640" cy="548640"/>
          </a:xfrm>
          <a:prstGeom prst="ellipse">
            <a:avLst/>
          </a:prstGeom>
          <a:solidFill>
            <a:schemeClr val="accent1"/>
          </a:solidFill>
          <a:ln w="12700">
            <a:solidFill>
              <a:schemeClr val="accent1"/>
            </a:solidFill>
            <a:prstDash val="solid"/>
          </a:ln>
        </p:spPr>
      </p:sp>
      <p:pic>
        <p:nvPicPr>
          <p:cNvPr id="27" name="icon-29" descr="icon">    </p:cNvPr>
          <p:cNvPicPr>
            <a:picLocks noChangeAspect="1"/>
          </p:cNvPicPr>
          <p:nvPr/>
        </p:nvPicPr>
        <p:blipFill>
          <a:blip r:embed="rId2"/>
          <a:stretch>
            <a:fillRect/>
          </a:stretch>
        </p:blipFill>
        <p:spPr>
          <a:xfrm>
            <a:off x="4677156" y="5212080"/>
            <a:ext cx="274320" cy="274320"/>
          </a:xfrm>
          <a:prstGeom prst="rect">
            <a:avLst/>
          </a:prstGeom>
        </p:spPr>
      </p:pic>
      <p:sp>
        <p:nvSpPr>
          <p:cNvPr id="28" name="text-30"/>
          <p:cNvSpPr txBox="1"/>
          <p:nvPr/>
        </p:nvSpPr>
        <p:spPr>
          <a:xfrm>
            <a:off x="5271516" y="5074920"/>
            <a:ext cx="2468880" cy="548640"/>
          </a:xfrm>
          <a:prstGeom prst="rect">
            <a:avLst/>
          </a:prstGeom>
          <a:noFill/>
          <a:ln/>
        </p:spPr>
        <p:txBody>
          <a:bodyPr wrap="square" lIns="0" tIns="0" rIns="0" bIns="0" rtlCol="0" anchor="ctr"/>
          <a:lstStyle/>
          <a:p>
            <a:pPr indent="0" marL="0">
              <a:buNone/>
            </a:pPr>
            <a:r>
              <a:rPr lang="en-US" sz="1600" b="1" dirty="0">
                <a:solidFill>
                  <a:schemeClr val="tx2"/>
                </a:solidFill>
              </a:rPr>
              <a:t>Google Sheets data</a:t>
            </a:r>
            <a:endParaRPr lang="en-US" sz="1600" dirty="0"/>
          </a:p>
        </p:txBody>
      </p:sp>
      <p:sp>
        <p:nvSpPr>
          <p:cNvPr id="29" name="text-31"/>
          <p:cNvSpPr txBox="1"/>
          <p:nvPr/>
        </p:nvSpPr>
        <p:spPr>
          <a:xfrm>
            <a:off x="4539996" y="5715000"/>
            <a:ext cx="3154680" cy="502920"/>
          </a:xfrm>
          <a:prstGeom prst="rect">
            <a:avLst/>
          </a:prstGeom>
          <a:noFill/>
          <a:ln/>
        </p:spPr>
        <p:txBody>
          <a:bodyPr wrap="square" lIns="0" tIns="0" rIns="0" bIns="0" rtlCol="0" anchor="t"/>
          <a:lstStyle/>
          <a:p>
            <a:pPr indent="0" marL="0">
              <a:buNone/>
            </a:pPr>
            <a:r>
              <a:rPr lang="en-US" sz="1400" dirty="0">
                <a:solidFill>
                  <a:schemeClr val="tx1"/>
                </a:solidFill>
              </a:rPr>
              <a:t>Structured Products, Categories and Inquiries sheets</a:t>
            </a:r>
            <a:endParaRPr lang="en-US" sz="1400" dirty="0"/>
          </a:p>
        </p:txBody>
      </p:sp>
      <p:sp>
        <p:nvSpPr>
          <p:cNvPr id="30" name="card-32"/>
          <p:cNvSpPr/>
          <p:nvPr/>
        </p:nvSpPr>
        <p:spPr>
          <a:xfrm>
            <a:off x="8074152" y="4846320"/>
            <a:ext cx="3566160" cy="1417320"/>
          </a:xfrm>
          <a:prstGeom prst="roundRect">
            <a:avLst>
              <a:gd name="adj" fmla="val 7742"/>
            </a:avLst>
          </a:prstGeom>
          <a:solidFill>
            <a:schemeClr val="bg1"/>
          </a:solidFill>
          <a:ln w="12700">
            <a:solidFill>
              <a:schemeClr val="bg1"/>
            </a:solidFill>
            <a:prstDash val="solid"/>
          </a:ln>
        </p:spPr>
      </p:sp>
      <p:sp>
        <p:nvSpPr>
          <p:cNvPr id="31" name="circle-33"/>
          <p:cNvSpPr/>
          <p:nvPr/>
        </p:nvSpPr>
        <p:spPr>
          <a:xfrm>
            <a:off x="8302752" y="5074920"/>
            <a:ext cx="548640" cy="548640"/>
          </a:xfrm>
          <a:prstGeom prst="ellipse">
            <a:avLst/>
          </a:prstGeom>
          <a:solidFill>
            <a:schemeClr val="accent1"/>
          </a:solidFill>
          <a:ln w="12700">
            <a:solidFill>
              <a:schemeClr val="accent1"/>
            </a:solidFill>
            <a:prstDash val="solid"/>
          </a:ln>
        </p:spPr>
      </p:sp>
      <p:pic>
        <p:nvPicPr>
          <p:cNvPr id="32" name="icon-34" descr="icon">    </p:cNvPr>
          <p:cNvPicPr>
            <a:picLocks noChangeAspect="1"/>
          </p:cNvPicPr>
          <p:nvPr/>
        </p:nvPicPr>
        <p:blipFill>
          <a:blip r:embed="rId3"/>
          <a:stretch>
            <a:fillRect/>
          </a:stretch>
        </p:blipFill>
        <p:spPr>
          <a:xfrm>
            <a:off x="8439912" y="5212080"/>
            <a:ext cx="274320" cy="274320"/>
          </a:xfrm>
          <a:prstGeom prst="rect">
            <a:avLst/>
          </a:prstGeom>
        </p:spPr>
      </p:pic>
      <p:sp>
        <p:nvSpPr>
          <p:cNvPr id="33" name="text-35"/>
          <p:cNvSpPr txBox="1"/>
          <p:nvPr/>
        </p:nvSpPr>
        <p:spPr>
          <a:xfrm>
            <a:off x="9034272" y="5074920"/>
            <a:ext cx="2468880" cy="548640"/>
          </a:xfrm>
          <a:prstGeom prst="rect">
            <a:avLst/>
          </a:prstGeom>
          <a:noFill/>
          <a:ln/>
        </p:spPr>
        <p:txBody>
          <a:bodyPr wrap="square" lIns="0" tIns="0" rIns="0" bIns="0" rtlCol="0" anchor="ctr"/>
          <a:lstStyle/>
          <a:p>
            <a:pPr indent="0" marL="0">
              <a:buNone/>
            </a:pPr>
            <a:r>
              <a:rPr lang="en-US" sz="1600" b="1" dirty="0">
                <a:solidFill>
                  <a:schemeClr val="tx2"/>
                </a:solidFill>
              </a:rPr>
              <a:t>Documentation</a:t>
            </a:r>
            <a:endParaRPr lang="en-US" sz="1600" dirty="0"/>
          </a:p>
        </p:txBody>
      </p:sp>
      <p:sp>
        <p:nvSpPr>
          <p:cNvPr id="34" name="text-36"/>
          <p:cNvSpPr txBox="1"/>
          <p:nvPr/>
        </p:nvSpPr>
        <p:spPr>
          <a:xfrm>
            <a:off x="8302752" y="5715000"/>
            <a:ext cx="3154680" cy="502920"/>
          </a:xfrm>
          <a:prstGeom prst="rect">
            <a:avLst/>
          </a:prstGeom>
          <a:noFill/>
          <a:ln/>
        </p:spPr>
        <p:txBody>
          <a:bodyPr wrap="square" lIns="0" tIns="0" rIns="0" bIns="0" rtlCol="0" anchor="t"/>
          <a:lstStyle/>
          <a:p>
            <a:pPr indent="0" marL="0">
              <a:buNone/>
            </a:pPr>
            <a:r>
              <a:rPr lang="en-US" sz="1400" dirty="0">
                <a:solidFill>
                  <a:schemeClr val="tx1"/>
                </a:solidFill>
              </a:rPr>
              <a:t>Contract, Use Case, BPM, WBS, Gantt and GitHub user guide</a:t>
            </a:r>
            <a:endParaRPr lang="en-US" sz="14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Project Plan: Data and Approach</a:t>
            </a:r>
            <a:endParaRPr lang="en-US" sz="3400" dirty="0"/>
          </a:p>
        </p:txBody>
      </p:sp>
      <p:sp>
        <p:nvSpPr>
          <p:cNvPr id="3" name="text-37"/>
          <p:cNvSpPr txBox="1"/>
          <p:nvPr/>
        </p:nvSpPr>
        <p:spPr>
          <a:xfrm>
            <a:off x="548640" y="1188720"/>
            <a:ext cx="11064240" cy="320040"/>
          </a:xfrm>
          <a:prstGeom prst="rect">
            <a:avLst/>
          </a:prstGeom>
          <a:noFill/>
          <a:ln/>
        </p:spPr>
        <p:txBody>
          <a:bodyPr wrap="square" lIns="0" tIns="0" rIns="0" bIns="0" rtlCol="0" anchor="ctr"/>
          <a:lstStyle/>
          <a:p>
            <a:pPr indent="0" marL="0">
              <a:buNone/>
            </a:pPr>
            <a:r>
              <a:rPr lang="en-US" sz="1400" i="1" dirty="0">
                <a:solidFill>
                  <a:schemeClr val="accent6"/>
                </a:solidFill>
              </a:rPr>
              <a:t>Dataset: Product Catalog &amp; Customer Inquiry Records, a Google Sheets workbook provided by Zetmart_uz</a:t>
            </a:r>
            <a:endParaRPr lang="en-US" sz="1400" dirty="0"/>
          </a:p>
        </p:txBody>
      </p:sp>
      <p:sp>
        <p:nvSpPr>
          <p:cNvPr id="4" name="card-38"/>
          <p:cNvSpPr/>
          <p:nvPr/>
        </p:nvSpPr>
        <p:spPr>
          <a:xfrm>
            <a:off x="548640" y="1691640"/>
            <a:ext cx="2606040" cy="1097280"/>
          </a:xfrm>
          <a:prstGeom prst="roundRect">
            <a:avLst>
              <a:gd name="adj" fmla="val 10000"/>
            </a:avLst>
          </a:prstGeom>
          <a:solidFill>
            <a:schemeClr val="bg2"/>
          </a:solidFill>
          <a:ln w="12700">
            <a:solidFill>
              <a:schemeClr val="bg2"/>
            </a:solidFill>
            <a:prstDash val="solid"/>
          </a:ln>
        </p:spPr>
      </p:sp>
      <p:sp>
        <p:nvSpPr>
          <p:cNvPr id="5" name="circle-39"/>
          <p:cNvSpPr/>
          <p:nvPr/>
        </p:nvSpPr>
        <p:spPr>
          <a:xfrm>
            <a:off x="777240" y="1965960"/>
            <a:ext cx="548640" cy="548640"/>
          </a:xfrm>
          <a:prstGeom prst="ellipse">
            <a:avLst/>
          </a:prstGeom>
          <a:solidFill>
            <a:schemeClr val="accent1"/>
          </a:solidFill>
          <a:ln w="12700">
            <a:solidFill>
              <a:schemeClr val="accent1"/>
            </a:solidFill>
            <a:prstDash val="solid"/>
          </a:ln>
        </p:spPr>
      </p:sp>
      <p:pic>
        <p:nvPicPr>
          <p:cNvPr id="6" name="icon-40" descr="icon">    </p:cNvPr>
          <p:cNvPicPr>
            <a:picLocks noChangeAspect="1"/>
          </p:cNvPicPr>
          <p:nvPr/>
        </p:nvPicPr>
        <p:blipFill>
          <a:blip r:embed="rId1"/>
          <a:stretch>
            <a:fillRect/>
          </a:stretch>
        </p:blipFill>
        <p:spPr>
          <a:xfrm>
            <a:off x="914400" y="2103120"/>
            <a:ext cx="274320" cy="274320"/>
          </a:xfrm>
          <a:prstGeom prst="rect">
            <a:avLst/>
          </a:prstGeom>
        </p:spPr>
      </p:pic>
      <p:sp>
        <p:nvSpPr>
          <p:cNvPr id="7" name="text-41"/>
          <p:cNvSpPr txBox="1"/>
          <p:nvPr/>
        </p:nvSpPr>
        <p:spPr>
          <a:xfrm>
            <a:off x="1508760" y="1920240"/>
            <a:ext cx="1554480" cy="365760"/>
          </a:xfrm>
          <a:prstGeom prst="rect">
            <a:avLst/>
          </a:prstGeom>
          <a:noFill/>
          <a:ln/>
        </p:spPr>
        <p:txBody>
          <a:bodyPr wrap="square" lIns="0" tIns="0" rIns="0" bIns="0" rtlCol="0" anchor="ctr"/>
          <a:lstStyle/>
          <a:p>
            <a:pPr indent="0" marL="0">
              <a:buNone/>
            </a:pPr>
            <a:r>
              <a:rPr lang="en-US" sz="1600" b="1" dirty="0">
                <a:solidFill>
                  <a:schemeClr val="tx2"/>
                </a:solidFill>
              </a:rPr>
              <a:t>Google Sites</a:t>
            </a:r>
            <a:endParaRPr lang="en-US" sz="1600" dirty="0"/>
          </a:p>
        </p:txBody>
      </p:sp>
      <p:sp>
        <p:nvSpPr>
          <p:cNvPr id="8" name="text-42"/>
          <p:cNvSpPr txBox="1"/>
          <p:nvPr/>
        </p:nvSpPr>
        <p:spPr>
          <a:xfrm>
            <a:off x="1508760" y="2286000"/>
            <a:ext cx="1554480" cy="365760"/>
          </a:xfrm>
          <a:prstGeom prst="rect">
            <a:avLst/>
          </a:prstGeom>
          <a:noFill/>
          <a:ln/>
        </p:spPr>
        <p:txBody>
          <a:bodyPr wrap="square" lIns="0" tIns="0" rIns="0" bIns="0" rtlCol="0" anchor="t"/>
          <a:lstStyle/>
          <a:p>
            <a:pPr indent="0" marL="0">
              <a:buNone/>
            </a:pPr>
            <a:r>
              <a:rPr lang="en-US" sz="1400" dirty="0">
                <a:solidFill>
                  <a:schemeClr val="tx1"/>
                </a:solidFill>
              </a:rPr>
              <a:t>Site builder</a:t>
            </a:r>
            <a:endParaRPr lang="en-US" sz="1400" dirty="0"/>
          </a:p>
        </p:txBody>
      </p:sp>
      <p:sp>
        <p:nvSpPr>
          <p:cNvPr id="9" name="card-43"/>
          <p:cNvSpPr/>
          <p:nvPr/>
        </p:nvSpPr>
        <p:spPr>
          <a:xfrm>
            <a:off x="3376879" y="1691640"/>
            <a:ext cx="2606040" cy="1097280"/>
          </a:xfrm>
          <a:prstGeom prst="roundRect">
            <a:avLst>
              <a:gd name="adj" fmla="val 10000"/>
            </a:avLst>
          </a:prstGeom>
          <a:solidFill>
            <a:schemeClr val="bg2"/>
          </a:solidFill>
          <a:ln w="12700">
            <a:solidFill>
              <a:schemeClr val="bg2"/>
            </a:solidFill>
            <a:prstDash val="solid"/>
          </a:ln>
        </p:spPr>
      </p:sp>
      <p:sp>
        <p:nvSpPr>
          <p:cNvPr id="10" name="circle-44"/>
          <p:cNvSpPr/>
          <p:nvPr/>
        </p:nvSpPr>
        <p:spPr>
          <a:xfrm>
            <a:off x="3605479" y="1965960"/>
            <a:ext cx="548640" cy="548640"/>
          </a:xfrm>
          <a:prstGeom prst="ellipse">
            <a:avLst/>
          </a:prstGeom>
          <a:solidFill>
            <a:schemeClr val="accent1"/>
          </a:solidFill>
          <a:ln w="12700">
            <a:solidFill>
              <a:schemeClr val="accent1"/>
            </a:solidFill>
            <a:prstDash val="solid"/>
          </a:ln>
        </p:spPr>
      </p:sp>
      <p:pic>
        <p:nvPicPr>
          <p:cNvPr id="11" name="icon-45" descr="icon">    </p:cNvPr>
          <p:cNvPicPr>
            <a:picLocks noChangeAspect="1"/>
          </p:cNvPicPr>
          <p:nvPr/>
        </p:nvPicPr>
        <p:blipFill>
          <a:blip r:embed="rId2"/>
          <a:stretch>
            <a:fillRect/>
          </a:stretch>
        </p:blipFill>
        <p:spPr>
          <a:xfrm>
            <a:off x="3742639" y="2103120"/>
            <a:ext cx="274320" cy="274320"/>
          </a:xfrm>
          <a:prstGeom prst="rect">
            <a:avLst/>
          </a:prstGeom>
        </p:spPr>
      </p:pic>
      <p:sp>
        <p:nvSpPr>
          <p:cNvPr id="12" name="text-46"/>
          <p:cNvSpPr txBox="1"/>
          <p:nvPr/>
        </p:nvSpPr>
        <p:spPr>
          <a:xfrm>
            <a:off x="4336999" y="1920240"/>
            <a:ext cx="1554480" cy="365760"/>
          </a:xfrm>
          <a:prstGeom prst="rect">
            <a:avLst/>
          </a:prstGeom>
          <a:noFill/>
          <a:ln/>
        </p:spPr>
        <p:txBody>
          <a:bodyPr wrap="square" lIns="0" tIns="0" rIns="0" bIns="0" rtlCol="0" anchor="ctr"/>
          <a:lstStyle/>
          <a:p>
            <a:pPr indent="0" marL="0">
              <a:buNone/>
            </a:pPr>
            <a:r>
              <a:rPr lang="en-US" sz="1600" b="1" dirty="0">
                <a:solidFill>
                  <a:schemeClr val="tx2"/>
                </a:solidFill>
              </a:rPr>
              <a:t>GitHub</a:t>
            </a:r>
            <a:endParaRPr lang="en-US" sz="1600" dirty="0"/>
          </a:p>
        </p:txBody>
      </p:sp>
      <p:sp>
        <p:nvSpPr>
          <p:cNvPr id="13" name="text-47"/>
          <p:cNvSpPr txBox="1"/>
          <p:nvPr/>
        </p:nvSpPr>
        <p:spPr>
          <a:xfrm>
            <a:off x="4336999" y="2286000"/>
            <a:ext cx="1554480" cy="365760"/>
          </a:xfrm>
          <a:prstGeom prst="rect">
            <a:avLst/>
          </a:prstGeom>
          <a:noFill/>
          <a:ln/>
        </p:spPr>
        <p:txBody>
          <a:bodyPr wrap="square" lIns="0" tIns="0" rIns="0" bIns="0" rtlCol="0" anchor="t"/>
          <a:lstStyle/>
          <a:p>
            <a:pPr indent="0" marL="0">
              <a:buNone/>
            </a:pPr>
            <a:r>
              <a:rPr lang="en-US" sz="1400" dirty="0">
                <a:solidFill>
                  <a:schemeClr val="tx1"/>
                </a:solidFill>
              </a:rPr>
              <a:t>Version history</a:t>
            </a:r>
            <a:endParaRPr lang="en-US" sz="1400" dirty="0"/>
          </a:p>
        </p:txBody>
      </p:sp>
      <p:sp>
        <p:nvSpPr>
          <p:cNvPr id="14" name="card-48"/>
          <p:cNvSpPr/>
          <p:nvPr/>
        </p:nvSpPr>
        <p:spPr>
          <a:xfrm>
            <a:off x="6205118" y="1691640"/>
            <a:ext cx="2606040" cy="1097280"/>
          </a:xfrm>
          <a:prstGeom prst="roundRect">
            <a:avLst>
              <a:gd name="adj" fmla="val 10000"/>
            </a:avLst>
          </a:prstGeom>
          <a:solidFill>
            <a:schemeClr val="bg2"/>
          </a:solidFill>
          <a:ln w="12700">
            <a:solidFill>
              <a:schemeClr val="bg2"/>
            </a:solidFill>
            <a:prstDash val="solid"/>
          </a:ln>
        </p:spPr>
      </p:sp>
      <p:sp>
        <p:nvSpPr>
          <p:cNvPr id="15" name="circle-49"/>
          <p:cNvSpPr/>
          <p:nvPr/>
        </p:nvSpPr>
        <p:spPr>
          <a:xfrm>
            <a:off x="6433718" y="1965960"/>
            <a:ext cx="548640" cy="548640"/>
          </a:xfrm>
          <a:prstGeom prst="ellipse">
            <a:avLst/>
          </a:prstGeom>
          <a:solidFill>
            <a:schemeClr val="accent1"/>
          </a:solidFill>
          <a:ln w="12700">
            <a:solidFill>
              <a:schemeClr val="accent1"/>
            </a:solidFill>
            <a:prstDash val="solid"/>
          </a:ln>
        </p:spPr>
      </p:sp>
      <p:pic>
        <p:nvPicPr>
          <p:cNvPr id="16" name="icon-50" descr="icon">    </p:cNvPr>
          <p:cNvPicPr>
            <a:picLocks noChangeAspect="1"/>
          </p:cNvPicPr>
          <p:nvPr/>
        </p:nvPicPr>
        <p:blipFill>
          <a:blip r:embed="rId3"/>
          <a:stretch>
            <a:fillRect/>
          </a:stretch>
        </p:blipFill>
        <p:spPr>
          <a:xfrm>
            <a:off x="6570878" y="2103120"/>
            <a:ext cx="274320" cy="274320"/>
          </a:xfrm>
          <a:prstGeom prst="rect">
            <a:avLst/>
          </a:prstGeom>
        </p:spPr>
      </p:pic>
      <p:sp>
        <p:nvSpPr>
          <p:cNvPr id="17" name="text-51"/>
          <p:cNvSpPr txBox="1"/>
          <p:nvPr/>
        </p:nvSpPr>
        <p:spPr>
          <a:xfrm>
            <a:off x="7165238" y="1920240"/>
            <a:ext cx="1554480" cy="365760"/>
          </a:xfrm>
          <a:prstGeom prst="rect">
            <a:avLst/>
          </a:prstGeom>
          <a:noFill/>
          <a:ln/>
        </p:spPr>
        <p:txBody>
          <a:bodyPr wrap="square" lIns="0" tIns="0" rIns="0" bIns="0" rtlCol="0" anchor="ctr"/>
          <a:lstStyle/>
          <a:p>
            <a:pPr indent="0" marL="0">
              <a:buNone/>
            </a:pPr>
            <a:r>
              <a:rPr lang="en-US" sz="1600" b="1" dirty="0">
                <a:solidFill>
                  <a:schemeClr val="tx2"/>
                </a:solidFill>
              </a:rPr>
              <a:t>Google Sheets</a:t>
            </a:r>
            <a:endParaRPr lang="en-US" sz="1600" dirty="0"/>
          </a:p>
        </p:txBody>
      </p:sp>
      <p:sp>
        <p:nvSpPr>
          <p:cNvPr id="18" name="text-52"/>
          <p:cNvSpPr txBox="1"/>
          <p:nvPr/>
        </p:nvSpPr>
        <p:spPr>
          <a:xfrm>
            <a:off x="7165238" y="2286000"/>
            <a:ext cx="1554480" cy="365760"/>
          </a:xfrm>
          <a:prstGeom prst="rect">
            <a:avLst/>
          </a:prstGeom>
          <a:noFill/>
          <a:ln/>
        </p:spPr>
        <p:txBody>
          <a:bodyPr wrap="square" lIns="0" tIns="0" rIns="0" bIns="0" rtlCol="0" anchor="t"/>
          <a:lstStyle/>
          <a:p>
            <a:pPr indent="0" marL="0">
              <a:buNone/>
            </a:pPr>
            <a:r>
              <a:rPr lang="en-US" sz="1400" dirty="0">
                <a:solidFill>
                  <a:schemeClr val="tx1"/>
                </a:solidFill>
              </a:rPr>
              <a:t>Data source</a:t>
            </a:r>
            <a:endParaRPr lang="en-US" sz="1400" dirty="0"/>
          </a:p>
        </p:txBody>
      </p:sp>
      <p:sp>
        <p:nvSpPr>
          <p:cNvPr id="19" name="card-53"/>
          <p:cNvSpPr/>
          <p:nvPr/>
        </p:nvSpPr>
        <p:spPr>
          <a:xfrm>
            <a:off x="9033358" y="1691640"/>
            <a:ext cx="2606040" cy="1097280"/>
          </a:xfrm>
          <a:prstGeom prst="roundRect">
            <a:avLst>
              <a:gd name="adj" fmla="val 10000"/>
            </a:avLst>
          </a:prstGeom>
          <a:solidFill>
            <a:schemeClr val="bg2"/>
          </a:solidFill>
          <a:ln w="12700">
            <a:solidFill>
              <a:schemeClr val="bg2"/>
            </a:solidFill>
            <a:prstDash val="solid"/>
          </a:ln>
        </p:spPr>
      </p:sp>
      <p:sp>
        <p:nvSpPr>
          <p:cNvPr id="20" name="circle-54"/>
          <p:cNvSpPr/>
          <p:nvPr/>
        </p:nvSpPr>
        <p:spPr>
          <a:xfrm>
            <a:off x="9261958" y="1965960"/>
            <a:ext cx="548640" cy="548640"/>
          </a:xfrm>
          <a:prstGeom prst="ellipse">
            <a:avLst/>
          </a:prstGeom>
          <a:solidFill>
            <a:schemeClr val="accent1"/>
          </a:solidFill>
          <a:ln w="12700">
            <a:solidFill>
              <a:schemeClr val="accent1"/>
            </a:solidFill>
            <a:prstDash val="solid"/>
          </a:ln>
        </p:spPr>
      </p:sp>
      <p:pic>
        <p:nvPicPr>
          <p:cNvPr id="21" name="icon-55" descr="icon">    </p:cNvPr>
          <p:cNvPicPr>
            <a:picLocks noChangeAspect="1"/>
          </p:cNvPicPr>
          <p:nvPr/>
        </p:nvPicPr>
        <p:blipFill>
          <a:blip r:embed="rId4"/>
          <a:stretch>
            <a:fillRect/>
          </a:stretch>
        </p:blipFill>
        <p:spPr>
          <a:xfrm>
            <a:off x="9399118" y="2103120"/>
            <a:ext cx="274320" cy="274320"/>
          </a:xfrm>
          <a:prstGeom prst="rect">
            <a:avLst/>
          </a:prstGeom>
        </p:spPr>
      </p:pic>
      <p:sp>
        <p:nvSpPr>
          <p:cNvPr id="22" name="text-56"/>
          <p:cNvSpPr txBox="1"/>
          <p:nvPr/>
        </p:nvSpPr>
        <p:spPr>
          <a:xfrm>
            <a:off x="9993478" y="1920240"/>
            <a:ext cx="1554480" cy="365760"/>
          </a:xfrm>
          <a:prstGeom prst="rect">
            <a:avLst/>
          </a:prstGeom>
          <a:noFill/>
          <a:ln/>
        </p:spPr>
        <p:txBody>
          <a:bodyPr wrap="square" lIns="0" tIns="0" rIns="0" bIns="0" rtlCol="0" anchor="ctr"/>
          <a:lstStyle/>
          <a:p>
            <a:pPr indent="0" marL="0">
              <a:buNone/>
            </a:pPr>
            <a:r>
              <a:rPr lang="en-US" sz="1600" b="1" dirty="0">
                <a:solidFill>
                  <a:schemeClr val="tx2"/>
                </a:solidFill>
              </a:rPr>
              <a:t>AI tools</a:t>
            </a:r>
            <a:endParaRPr lang="en-US" sz="1600" dirty="0"/>
          </a:p>
        </p:txBody>
      </p:sp>
      <p:sp>
        <p:nvSpPr>
          <p:cNvPr id="23" name="text-57"/>
          <p:cNvSpPr txBox="1"/>
          <p:nvPr/>
        </p:nvSpPr>
        <p:spPr>
          <a:xfrm>
            <a:off x="9993478" y="2286000"/>
            <a:ext cx="1554480" cy="365760"/>
          </a:xfrm>
          <a:prstGeom prst="rect">
            <a:avLst/>
          </a:prstGeom>
          <a:noFill/>
          <a:ln/>
        </p:spPr>
        <p:txBody>
          <a:bodyPr wrap="square" lIns="0" tIns="0" rIns="0" bIns="0" rtlCol="0" anchor="t"/>
          <a:lstStyle/>
          <a:p>
            <a:pPr indent="0" marL="0">
              <a:buNone/>
            </a:pPr>
            <a:r>
              <a:rPr lang="en-US" sz="1400" dirty="0">
                <a:solidFill>
                  <a:schemeClr val="tx1"/>
                </a:solidFill>
              </a:rPr>
              <a:t>Content and design</a:t>
            </a:r>
            <a:endParaRPr lang="en-US" sz="1400" dirty="0"/>
          </a:p>
        </p:txBody>
      </p:sp>
      <p:sp>
        <p:nvSpPr>
          <p:cNvPr id="24" name="text-58"/>
          <p:cNvSpPr txBox="1"/>
          <p:nvPr/>
        </p:nvSpPr>
        <p:spPr>
          <a:xfrm>
            <a:off x="548640" y="3063240"/>
            <a:ext cx="7315200" cy="365760"/>
          </a:xfrm>
          <a:prstGeom prst="rect">
            <a:avLst/>
          </a:prstGeom>
          <a:noFill/>
          <a:ln/>
        </p:spPr>
        <p:txBody>
          <a:bodyPr wrap="square" lIns="0" tIns="0" rIns="0" bIns="0" rtlCol="0" anchor="ctr"/>
          <a:lstStyle/>
          <a:p>
            <a:pPr indent="0" marL="0">
              <a:buNone/>
            </a:pPr>
            <a:r>
              <a:rPr lang="en-US" sz="2000" b="1" dirty="0">
                <a:solidFill>
                  <a:schemeClr val="tx2"/>
                </a:solidFill>
              </a:rPr>
              <a:t>Data preparation (no code)</a:t>
            </a:r>
            <a:endParaRPr lang="en-US" sz="2000" dirty="0"/>
          </a:p>
        </p:txBody>
      </p:sp>
      <p:sp>
        <p:nvSpPr>
          <p:cNvPr id="25" name="card-59"/>
          <p:cNvSpPr/>
          <p:nvPr/>
        </p:nvSpPr>
        <p:spPr>
          <a:xfrm>
            <a:off x="548640" y="3566160"/>
            <a:ext cx="3566160" cy="2743200"/>
          </a:xfrm>
          <a:prstGeom prst="roundRect">
            <a:avLst>
              <a:gd name="adj" fmla="val 4000"/>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26" name="num-60"/>
          <p:cNvSpPr/>
          <p:nvPr/>
        </p:nvSpPr>
        <p:spPr>
          <a:xfrm>
            <a:off x="777240" y="3794760"/>
            <a:ext cx="457200" cy="457200"/>
          </a:xfrm>
          <a:prstGeom prst="ellipse">
            <a:avLst/>
          </a:prstGeom>
          <a:solidFill>
            <a:schemeClr val="accent3"/>
          </a:solidFill>
          <a:ln w="12700">
            <a:solidFill>
              <a:srgbClr val="7A3B69"/>
            </a:solidFill>
            <a:prstDash val="solid"/>
          </a:ln>
        </p:spPr>
      </p:sp>
      <p:sp>
        <p:nvSpPr>
          <p:cNvPr id="27" name="text-61"/>
          <p:cNvSpPr txBox="1"/>
          <p:nvPr/>
        </p:nvSpPr>
        <p:spPr>
          <a:xfrm>
            <a:off x="777240"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8" name="text-62"/>
          <p:cNvSpPr txBox="1"/>
          <p:nvPr/>
        </p:nvSpPr>
        <p:spPr>
          <a:xfrm>
            <a:off x="1417320" y="379476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Ingestion</a:t>
            </a:r>
            <a:endParaRPr lang="en-US" sz="1800" dirty="0"/>
          </a:p>
        </p:txBody>
      </p:sp>
      <p:sp>
        <p:nvSpPr>
          <p:cNvPr id="29" name="bullets-63"/>
          <p:cNvSpPr txBox="1"/>
          <p:nvPr/>
        </p:nvSpPr>
        <p:spPr>
          <a:xfrm>
            <a:off x="822960" y="4526280"/>
            <a:ext cx="3063240" cy="16916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chemeClr val="tx1"/>
                </a:solidFill>
              </a:rPr>
              <a:t>Import the customer's product list and prices</a:t>
            </a:r>
            <a:endParaRPr lang="en-US" sz="1600" dirty="0"/>
          </a:p>
          <a:p>
            <a:pPr marL="177800" indent="-177800">
              <a:spcAft>
                <a:spcPts val="500"/>
              </a:spcAft>
              <a:buSzPct val="100000"/>
              <a:buChar char="•"/>
            </a:pPr>
            <a:r>
              <a:rPr lang="en-US" sz="1600" dirty="0">
                <a:solidFill>
                  <a:schemeClr val="tx1"/>
                </a:solidFill>
              </a:rPr>
              <a:t>Create sheets: Products, Categories, Inquiries</a:t>
            </a:r>
            <a:endParaRPr lang="en-US" sz="1600" dirty="0"/>
          </a:p>
        </p:txBody>
      </p:sp>
      <p:sp>
        <p:nvSpPr>
          <p:cNvPr id="30" name="card-64"/>
          <p:cNvSpPr/>
          <p:nvPr/>
        </p:nvSpPr>
        <p:spPr>
          <a:xfrm>
            <a:off x="4311396" y="3566160"/>
            <a:ext cx="3566160" cy="2743200"/>
          </a:xfrm>
          <a:prstGeom prst="roundRect">
            <a:avLst>
              <a:gd name="adj" fmla="val 4000"/>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31" name="num-65"/>
          <p:cNvSpPr/>
          <p:nvPr/>
        </p:nvSpPr>
        <p:spPr>
          <a:xfrm>
            <a:off x="4539996" y="3794760"/>
            <a:ext cx="457200" cy="457200"/>
          </a:xfrm>
          <a:prstGeom prst="ellipse">
            <a:avLst/>
          </a:prstGeom>
          <a:solidFill>
            <a:schemeClr val="accent3"/>
          </a:solidFill>
          <a:ln w="12700">
            <a:solidFill>
              <a:srgbClr val="7A3B69"/>
            </a:solidFill>
            <a:prstDash val="solid"/>
          </a:ln>
        </p:spPr>
      </p:sp>
      <p:sp>
        <p:nvSpPr>
          <p:cNvPr id="32" name="text-66"/>
          <p:cNvSpPr txBox="1"/>
          <p:nvPr/>
        </p:nvSpPr>
        <p:spPr>
          <a:xfrm>
            <a:off x="4539996"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33" name="text-67"/>
          <p:cNvSpPr txBox="1"/>
          <p:nvPr/>
        </p:nvSpPr>
        <p:spPr>
          <a:xfrm>
            <a:off x="5180076" y="379476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Cleaning</a:t>
            </a:r>
            <a:endParaRPr lang="en-US" sz="1800" dirty="0"/>
          </a:p>
        </p:txBody>
      </p:sp>
      <p:sp>
        <p:nvSpPr>
          <p:cNvPr id="34" name="bullets-68"/>
          <p:cNvSpPr txBox="1"/>
          <p:nvPr/>
        </p:nvSpPr>
        <p:spPr>
          <a:xfrm>
            <a:off x="4585716" y="4526280"/>
            <a:ext cx="3063240" cy="16916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chemeClr val="tx1"/>
                </a:solidFill>
              </a:rPr>
              <a:t>Fill missing descriptions, brands and photo links</a:t>
            </a:r>
            <a:endParaRPr lang="en-US" sz="1600" dirty="0"/>
          </a:p>
          <a:p>
            <a:pPr marL="177800" indent="-177800">
              <a:spcAft>
                <a:spcPts val="500"/>
              </a:spcAft>
              <a:buSzPct val="100000"/>
              <a:buChar char="•"/>
            </a:pPr>
            <a:r>
              <a:rPr lang="en-US" sz="1600" dirty="0">
                <a:solidFill>
                  <a:schemeClr val="tx1"/>
                </a:solidFill>
              </a:rPr>
              <a:t>Standardize names, categories and prices</a:t>
            </a:r>
            <a:endParaRPr lang="en-US" sz="1600" dirty="0"/>
          </a:p>
          <a:p>
            <a:pPr marL="177800" indent="-177800">
              <a:spcAft>
                <a:spcPts val="500"/>
              </a:spcAft>
              <a:buSzPct val="100000"/>
              <a:buChar char="•"/>
            </a:pPr>
            <a:r>
              <a:rPr lang="en-US" sz="1600" dirty="0">
                <a:solidFill>
                  <a:schemeClr val="tx1"/>
                </a:solidFill>
              </a:rPr>
              <a:t>Remove duplicates and test entries</a:t>
            </a:r>
            <a:endParaRPr lang="en-US" sz="1600" dirty="0"/>
          </a:p>
        </p:txBody>
      </p:sp>
      <p:sp>
        <p:nvSpPr>
          <p:cNvPr id="35" name="card-69"/>
          <p:cNvSpPr/>
          <p:nvPr/>
        </p:nvSpPr>
        <p:spPr>
          <a:xfrm>
            <a:off x="8074152" y="3566160"/>
            <a:ext cx="3566160" cy="2743200"/>
          </a:xfrm>
          <a:prstGeom prst="roundRect">
            <a:avLst>
              <a:gd name="adj" fmla="val 4000"/>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36" name="num-70"/>
          <p:cNvSpPr/>
          <p:nvPr/>
        </p:nvSpPr>
        <p:spPr>
          <a:xfrm>
            <a:off x="8302752" y="3794760"/>
            <a:ext cx="457200" cy="457200"/>
          </a:xfrm>
          <a:prstGeom prst="ellipse">
            <a:avLst/>
          </a:prstGeom>
          <a:solidFill>
            <a:schemeClr val="accent3"/>
          </a:solidFill>
          <a:ln w="12700">
            <a:solidFill>
              <a:srgbClr val="7A3B69"/>
            </a:solidFill>
            <a:prstDash val="solid"/>
          </a:ln>
        </p:spPr>
      </p:sp>
      <p:sp>
        <p:nvSpPr>
          <p:cNvPr id="37" name="text-71"/>
          <p:cNvSpPr txBox="1"/>
          <p:nvPr/>
        </p:nvSpPr>
        <p:spPr>
          <a:xfrm>
            <a:off x="8302752" y="3794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8" name="text-72"/>
          <p:cNvSpPr txBox="1"/>
          <p:nvPr/>
        </p:nvSpPr>
        <p:spPr>
          <a:xfrm>
            <a:off x="8942832" y="3794760"/>
            <a:ext cx="2560320" cy="457200"/>
          </a:xfrm>
          <a:prstGeom prst="rect">
            <a:avLst/>
          </a:prstGeom>
          <a:noFill/>
          <a:ln/>
        </p:spPr>
        <p:txBody>
          <a:bodyPr wrap="square" lIns="0" tIns="0" rIns="0" bIns="0" rtlCol="0" anchor="ctr"/>
          <a:lstStyle/>
          <a:p>
            <a:pPr indent="0" marL="0">
              <a:buNone/>
            </a:pPr>
            <a:r>
              <a:rPr lang="en-US" sz="1800" b="1" dirty="0">
                <a:solidFill>
                  <a:schemeClr val="tx2"/>
                </a:solidFill>
              </a:rPr>
              <a:t>Feature engineering</a:t>
            </a:r>
            <a:endParaRPr lang="en-US" sz="1800" dirty="0"/>
          </a:p>
        </p:txBody>
      </p:sp>
      <p:sp>
        <p:nvSpPr>
          <p:cNvPr id="39" name="bullets-73"/>
          <p:cNvSpPr txBox="1"/>
          <p:nvPr/>
        </p:nvSpPr>
        <p:spPr>
          <a:xfrm>
            <a:off x="8348472" y="4526280"/>
            <a:ext cx="3063240" cy="16916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chemeClr val="tx1"/>
                </a:solidFill>
              </a:rPr>
              <a:t>Add helper columns:</a:t>
            </a:r>
            <a:endParaRPr lang="en-US" sz="1600" dirty="0"/>
          </a:p>
          <a:p>
            <a:pPr marL="177800" indent="-177800">
              <a:spcAft>
                <a:spcPts val="500"/>
              </a:spcAft>
              <a:buSzPct val="100000"/>
              <a:buChar char="•"/>
            </a:pPr>
            <a:r>
              <a:rPr lang="en-US" sz="1600" dirty="0">
                <a:solidFill>
                  <a:schemeClr val="tx1"/>
                </a:solidFill>
              </a:rPr>
              <a:t>in_stock_flag, discounted_price,</a:t>
            </a:r>
            <a:endParaRPr lang="en-US" sz="1600" dirty="0"/>
          </a:p>
          <a:p>
            <a:pPr marL="177800" indent="-177800">
              <a:spcAft>
                <a:spcPts val="500"/>
              </a:spcAft>
              <a:buSzPct val="100000"/>
              <a:buChar char="•"/>
            </a:pPr>
            <a:r>
              <a:rPr lang="en-US" sz="1600" dirty="0">
                <a:solidFill>
                  <a:schemeClr val="tx1"/>
                </a:solidFill>
              </a:rPr>
              <a:t>order_total, inquiry_status</a:t>
            </a:r>
            <a:endParaRPr lang="en-US" sz="16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Contract: Project Specifications</a:t>
            </a:r>
            <a:endParaRPr lang="en-US" sz="3400" dirty="0"/>
          </a:p>
        </p:txBody>
      </p:sp>
      <p:sp>
        <p:nvSpPr>
          <p:cNvPr id="3" name="card-74"/>
          <p:cNvSpPr/>
          <p:nvPr/>
        </p:nvSpPr>
        <p:spPr>
          <a:xfrm>
            <a:off x="548640" y="1371600"/>
            <a:ext cx="3566160" cy="3611880"/>
          </a:xfrm>
          <a:prstGeom prst="roundRect">
            <a:avLst>
              <a:gd name="adj" fmla="val 3077"/>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4" name="circle-75"/>
          <p:cNvSpPr/>
          <p:nvPr/>
        </p:nvSpPr>
        <p:spPr>
          <a:xfrm>
            <a:off x="777240" y="1600200"/>
            <a:ext cx="548640" cy="548640"/>
          </a:xfrm>
          <a:prstGeom prst="ellipse">
            <a:avLst/>
          </a:prstGeom>
          <a:solidFill>
            <a:schemeClr val="accent1"/>
          </a:solidFill>
          <a:ln w="12700">
            <a:solidFill>
              <a:schemeClr val="accent1"/>
            </a:solidFill>
            <a:prstDash val="solid"/>
          </a:ln>
        </p:spPr>
      </p:sp>
      <p:pic>
        <p:nvPicPr>
          <p:cNvPr id="5" name="icon-76" descr="icon">    </p:cNvPr>
          <p:cNvPicPr>
            <a:picLocks noChangeAspect="1"/>
          </p:cNvPicPr>
          <p:nvPr/>
        </p:nvPicPr>
        <p:blipFill>
          <a:blip r:embed="rId1"/>
          <a:stretch>
            <a:fillRect/>
          </a:stretch>
        </p:blipFill>
        <p:spPr>
          <a:xfrm>
            <a:off x="914400" y="1737360"/>
            <a:ext cx="274320" cy="274320"/>
          </a:xfrm>
          <a:prstGeom prst="rect">
            <a:avLst/>
          </a:prstGeom>
        </p:spPr>
      </p:pic>
      <p:sp>
        <p:nvSpPr>
          <p:cNvPr id="6" name="text-77"/>
          <p:cNvSpPr txBox="1"/>
          <p:nvPr/>
        </p:nvSpPr>
        <p:spPr>
          <a:xfrm>
            <a:off x="1508760" y="1600200"/>
            <a:ext cx="2423160" cy="548640"/>
          </a:xfrm>
          <a:prstGeom prst="rect">
            <a:avLst/>
          </a:prstGeom>
          <a:noFill/>
          <a:ln/>
        </p:spPr>
        <p:txBody>
          <a:bodyPr wrap="square" lIns="0" tIns="0" rIns="0" bIns="0" rtlCol="0" anchor="ctr"/>
          <a:lstStyle/>
          <a:p>
            <a:pPr indent="0" marL="0">
              <a:buNone/>
            </a:pPr>
            <a:r>
              <a:rPr lang="en-US" sz="1800" b="1" dirty="0">
                <a:solidFill>
                  <a:schemeClr val="tx2"/>
                </a:solidFill>
              </a:rPr>
              <a:t>Scope</a:t>
            </a:r>
            <a:endParaRPr lang="en-US" sz="1800" dirty="0"/>
          </a:p>
        </p:txBody>
      </p:sp>
      <p:sp>
        <p:nvSpPr>
          <p:cNvPr id="7" name="bullets-78"/>
          <p:cNvSpPr txBox="1"/>
          <p:nvPr/>
        </p:nvSpPr>
        <p:spPr>
          <a:xfrm>
            <a:off x="822960" y="2377440"/>
            <a:ext cx="3017520" cy="242316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chemeClr val="tx1"/>
                </a:solidFill>
              </a:rPr>
              <a:t>Google Sites website built with AI</a:t>
            </a:r>
            <a:endParaRPr lang="en-US" sz="1600" dirty="0"/>
          </a:p>
          <a:p>
            <a:pPr marL="177800" indent="-177800">
              <a:spcAft>
                <a:spcPts val="500"/>
              </a:spcAft>
              <a:buSzPct val="100000"/>
              <a:buChar char="•"/>
            </a:pPr>
            <a:r>
              <a:rPr lang="en-US" sz="1600" dirty="0">
                <a:solidFill>
                  <a:schemeClr val="tx1"/>
                </a:solidFill>
              </a:rPr>
              <a:t>Google Sheets as the data source</a:t>
            </a:r>
            <a:endParaRPr lang="en-US" sz="1600" dirty="0"/>
          </a:p>
          <a:p>
            <a:pPr marL="177800" indent="-177800">
              <a:spcAft>
                <a:spcPts val="500"/>
              </a:spcAft>
              <a:buSzPct val="100000"/>
              <a:buChar char="•"/>
            </a:pPr>
            <a:r>
              <a:rPr lang="en-US" sz="1600" dirty="0">
                <a:solidFill>
                  <a:schemeClr val="tx1"/>
                </a:solidFill>
              </a:rPr>
              <a:t>Categorized catalog, search and browsing</a:t>
            </a:r>
            <a:endParaRPr lang="en-US" sz="1600" dirty="0"/>
          </a:p>
          <a:p>
            <a:pPr marL="177800" indent="-177800">
              <a:spcAft>
                <a:spcPts val="500"/>
              </a:spcAft>
              <a:buSzPct val="100000"/>
              <a:buChar char="•"/>
            </a:pPr>
            <a:r>
              <a:rPr lang="en-US" sz="1600" dirty="0">
                <a:solidFill>
                  <a:schemeClr val="tx1"/>
                </a:solidFill>
              </a:rPr>
              <a:t>Inquiry form recorded in Sheets</a:t>
            </a:r>
            <a:endParaRPr lang="en-US" sz="1600" dirty="0"/>
          </a:p>
          <a:p>
            <a:pPr marL="177800" indent="-177800">
              <a:spcAft>
                <a:spcPts val="500"/>
              </a:spcAft>
              <a:buSzPct val="100000"/>
              <a:buChar char="•"/>
            </a:pPr>
            <a:r>
              <a:rPr lang="en-US" sz="1600" dirty="0">
                <a:solidFill>
                  <a:schemeClr val="tx1"/>
                </a:solidFill>
              </a:rPr>
              <a:t>Responsive design, contact and delivery pages</a:t>
            </a:r>
            <a:endParaRPr lang="en-US" sz="1600" dirty="0"/>
          </a:p>
        </p:txBody>
      </p:sp>
      <p:sp>
        <p:nvSpPr>
          <p:cNvPr id="8" name="card-79"/>
          <p:cNvSpPr/>
          <p:nvPr/>
        </p:nvSpPr>
        <p:spPr>
          <a:xfrm>
            <a:off x="4311396" y="1371600"/>
            <a:ext cx="3566160" cy="3611880"/>
          </a:xfrm>
          <a:prstGeom prst="roundRect">
            <a:avLst>
              <a:gd name="adj" fmla="val 3077"/>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9" name="circle-80"/>
          <p:cNvSpPr/>
          <p:nvPr/>
        </p:nvSpPr>
        <p:spPr>
          <a:xfrm>
            <a:off x="4539996" y="1600200"/>
            <a:ext cx="548640" cy="548640"/>
          </a:xfrm>
          <a:prstGeom prst="ellipse">
            <a:avLst/>
          </a:prstGeom>
          <a:solidFill>
            <a:schemeClr val="accent1"/>
          </a:solidFill>
          <a:ln w="12700">
            <a:solidFill>
              <a:schemeClr val="accent1"/>
            </a:solidFill>
            <a:prstDash val="solid"/>
          </a:ln>
        </p:spPr>
      </p:sp>
      <p:pic>
        <p:nvPicPr>
          <p:cNvPr id="10" name="icon-81" descr="icon">    </p:cNvPr>
          <p:cNvPicPr>
            <a:picLocks noChangeAspect="1"/>
          </p:cNvPicPr>
          <p:nvPr/>
        </p:nvPicPr>
        <p:blipFill>
          <a:blip r:embed="rId2"/>
          <a:stretch>
            <a:fillRect/>
          </a:stretch>
        </p:blipFill>
        <p:spPr>
          <a:xfrm>
            <a:off x="4677156" y="1737360"/>
            <a:ext cx="274320" cy="274320"/>
          </a:xfrm>
          <a:prstGeom prst="rect">
            <a:avLst/>
          </a:prstGeom>
        </p:spPr>
      </p:pic>
      <p:sp>
        <p:nvSpPr>
          <p:cNvPr id="11" name="text-82"/>
          <p:cNvSpPr txBox="1"/>
          <p:nvPr/>
        </p:nvSpPr>
        <p:spPr>
          <a:xfrm>
            <a:off x="5271516" y="1600200"/>
            <a:ext cx="2423160" cy="548640"/>
          </a:xfrm>
          <a:prstGeom prst="rect">
            <a:avLst/>
          </a:prstGeom>
          <a:noFill/>
          <a:ln/>
        </p:spPr>
        <p:txBody>
          <a:bodyPr wrap="square" lIns="0" tIns="0" rIns="0" bIns="0" rtlCol="0" anchor="ctr"/>
          <a:lstStyle/>
          <a:p>
            <a:pPr indent="0" marL="0">
              <a:buNone/>
            </a:pPr>
            <a:r>
              <a:rPr lang="en-US" sz="1800" b="1" dirty="0">
                <a:solidFill>
                  <a:schemeClr val="tx2"/>
                </a:solidFill>
              </a:rPr>
              <a:t>Customer requirements</a:t>
            </a:r>
            <a:endParaRPr lang="en-US" sz="1800" dirty="0"/>
          </a:p>
        </p:txBody>
      </p:sp>
      <p:sp>
        <p:nvSpPr>
          <p:cNvPr id="12" name="bullets-83"/>
          <p:cNvSpPr txBox="1"/>
          <p:nvPr/>
        </p:nvSpPr>
        <p:spPr>
          <a:xfrm>
            <a:off x="4585716" y="2377440"/>
            <a:ext cx="3017520" cy="242316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chemeClr val="tx1"/>
                </a:solidFill>
              </a:rPr>
              <a:t>Attractive site that reflects the brand</a:t>
            </a:r>
            <a:endParaRPr lang="en-US" sz="1600" dirty="0"/>
          </a:p>
          <a:p>
            <a:pPr marL="177800" indent="-177800">
              <a:spcAft>
                <a:spcPts val="500"/>
              </a:spcAft>
              <a:buSzPct val="100000"/>
              <a:buChar char="•"/>
            </a:pPr>
            <a:r>
              <a:rPr lang="en-US" sz="1600" dirty="0">
                <a:solidFill>
                  <a:schemeClr val="tx1"/>
                </a:solidFill>
              </a:rPr>
              <a:t>Manager updates the catalog via Sheets, no code</a:t>
            </a:r>
            <a:endParaRPr lang="en-US" sz="1600" dirty="0"/>
          </a:p>
          <a:p>
            <a:pPr marL="177800" indent="-177800">
              <a:spcAft>
                <a:spcPts val="500"/>
              </a:spcAft>
              <a:buSzPct val="100000"/>
              <a:buChar char="•"/>
            </a:pPr>
            <a:r>
              <a:rPr lang="en-US" sz="1600" dirty="0">
                <a:solidFill>
                  <a:schemeClr val="tx1"/>
                </a:solidFill>
              </a:rPr>
              <a:t>Automatic logging of inquiries and orders</a:t>
            </a:r>
            <a:endParaRPr lang="en-US" sz="1600" dirty="0"/>
          </a:p>
          <a:p>
            <a:pPr marL="177800" indent="-177800">
              <a:spcAft>
                <a:spcPts val="500"/>
              </a:spcAft>
              <a:buSzPct val="100000"/>
              <a:buChar char="•"/>
            </a:pPr>
            <a:r>
              <a:rPr lang="en-US" sz="1600" dirty="0">
                <a:solidFill>
                  <a:schemeClr val="tx1"/>
                </a:solidFill>
              </a:rPr>
              <a:t>Mobile-friendly experience</a:t>
            </a:r>
            <a:endParaRPr lang="en-US" sz="1600" dirty="0"/>
          </a:p>
          <a:p>
            <a:pPr marL="177800" indent="-177800">
              <a:spcAft>
                <a:spcPts val="500"/>
              </a:spcAft>
              <a:buSzPct val="100000"/>
              <a:buChar char="•"/>
            </a:pPr>
            <a:r>
              <a:rPr lang="en-US" sz="1600" dirty="0">
                <a:solidFill>
                  <a:schemeClr val="tx1"/>
                </a:solidFill>
              </a:rPr>
              <a:t>Clear contact and delivery information</a:t>
            </a:r>
            <a:endParaRPr lang="en-US" sz="1600" dirty="0"/>
          </a:p>
        </p:txBody>
      </p:sp>
      <p:sp>
        <p:nvSpPr>
          <p:cNvPr id="13" name="card-84"/>
          <p:cNvSpPr/>
          <p:nvPr/>
        </p:nvSpPr>
        <p:spPr>
          <a:xfrm>
            <a:off x="8074152" y="1371600"/>
            <a:ext cx="3566160" cy="3611880"/>
          </a:xfrm>
          <a:prstGeom prst="roundRect">
            <a:avLst>
              <a:gd name="adj" fmla="val 3077"/>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14" name="circle-85"/>
          <p:cNvSpPr/>
          <p:nvPr/>
        </p:nvSpPr>
        <p:spPr>
          <a:xfrm>
            <a:off x="8302752" y="1600200"/>
            <a:ext cx="548640" cy="548640"/>
          </a:xfrm>
          <a:prstGeom prst="ellipse">
            <a:avLst/>
          </a:prstGeom>
          <a:solidFill>
            <a:schemeClr val="accent1"/>
          </a:solidFill>
          <a:ln w="12700">
            <a:solidFill>
              <a:schemeClr val="accent1"/>
            </a:solidFill>
            <a:prstDash val="solid"/>
          </a:ln>
        </p:spPr>
      </p:sp>
      <p:pic>
        <p:nvPicPr>
          <p:cNvPr id="15" name="icon-86" descr="icon">    </p:cNvPr>
          <p:cNvPicPr>
            <a:picLocks noChangeAspect="1"/>
          </p:cNvPicPr>
          <p:nvPr/>
        </p:nvPicPr>
        <p:blipFill>
          <a:blip r:embed="rId3"/>
          <a:stretch>
            <a:fillRect/>
          </a:stretch>
        </p:blipFill>
        <p:spPr>
          <a:xfrm>
            <a:off x="8439912" y="1737360"/>
            <a:ext cx="274320" cy="274320"/>
          </a:xfrm>
          <a:prstGeom prst="rect">
            <a:avLst/>
          </a:prstGeom>
        </p:spPr>
      </p:pic>
      <p:sp>
        <p:nvSpPr>
          <p:cNvPr id="16" name="text-87"/>
          <p:cNvSpPr txBox="1"/>
          <p:nvPr/>
        </p:nvSpPr>
        <p:spPr>
          <a:xfrm>
            <a:off x="9034272" y="1600200"/>
            <a:ext cx="2423160" cy="548640"/>
          </a:xfrm>
          <a:prstGeom prst="rect">
            <a:avLst/>
          </a:prstGeom>
          <a:noFill/>
          <a:ln/>
        </p:spPr>
        <p:txBody>
          <a:bodyPr wrap="square" lIns="0" tIns="0" rIns="0" bIns="0" rtlCol="0" anchor="ctr"/>
          <a:lstStyle/>
          <a:p>
            <a:pPr indent="0" marL="0">
              <a:buNone/>
            </a:pPr>
            <a:r>
              <a:rPr lang="en-US" sz="1800" b="1" dirty="0">
                <a:solidFill>
                  <a:schemeClr val="tx2"/>
                </a:solidFill>
              </a:rPr>
              <a:t>Deliverables</a:t>
            </a:r>
            <a:endParaRPr lang="en-US" sz="1800" dirty="0"/>
          </a:p>
        </p:txBody>
      </p:sp>
      <p:sp>
        <p:nvSpPr>
          <p:cNvPr id="17" name="bullets-88"/>
          <p:cNvSpPr txBox="1"/>
          <p:nvPr/>
        </p:nvSpPr>
        <p:spPr>
          <a:xfrm>
            <a:off x="8348472" y="2377440"/>
            <a:ext cx="3017520" cy="242316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chemeClr val="tx1"/>
                </a:solidFill>
              </a:rPr>
              <a:t>Zetmart_uz website</a:t>
            </a:r>
            <a:endParaRPr lang="en-US" sz="1600" dirty="0"/>
          </a:p>
          <a:p>
            <a:pPr marL="177800" indent="-177800">
              <a:spcAft>
                <a:spcPts val="500"/>
              </a:spcAft>
              <a:buSzPct val="100000"/>
              <a:buChar char="•"/>
            </a:pPr>
            <a:r>
              <a:rPr lang="en-US" sz="1600" dirty="0">
                <a:solidFill>
                  <a:schemeClr val="tx1"/>
                </a:solidFill>
              </a:rPr>
              <a:t>Google Sheets workbook</a:t>
            </a:r>
            <a:endParaRPr lang="en-US" sz="1600" dirty="0"/>
          </a:p>
          <a:p>
            <a:pPr marL="177800" indent="-177800">
              <a:spcAft>
                <a:spcPts val="500"/>
              </a:spcAft>
              <a:buSzPct val="100000"/>
              <a:buChar char="•"/>
            </a:pPr>
            <a:r>
              <a:rPr lang="en-US" sz="1600" dirty="0">
                <a:solidFill>
                  <a:schemeClr val="tx1"/>
                </a:solidFill>
              </a:rPr>
              <a:t>Contract, Use Case, BPM, WBS and Gantt chart</a:t>
            </a:r>
            <a:endParaRPr lang="en-US" sz="1600" dirty="0"/>
          </a:p>
          <a:p>
            <a:pPr marL="177800" indent="-177800">
              <a:spcAft>
                <a:spcPts val="500"/>
              </a:spcAft>
              <a:buSzPct val="100000"/>
              <a:buChar char="•"/>
            </a:pPr>
            <a:r>
              <a:rPr lang="en-US" sz="1600" dirty="0">
                <a:solidFill>
                  <a:schemeClr val="tx1"/>
                </a:solidFill>
              </a:rPr>
              <a:t>GitHub repository with a user guide for the manager</a:t>
            </a:r>
            <a:endParaRPr lang="en-US" sz="1600" dirty="0"/>
          </a:p>
        </p:txBody>
      </p:sp>
      <p:sp>
        <p:nvSpPr>
          <p:cNvPr id="18" name="card-89"/>
          <p:cNvSpPr/>
          <p:nvPr/>
        </p:nvSpPr>
        <p:spPr>
          <a:xfrm>
            <a:off x="548640" y="5212080"/>
            <a:ext cx="3566160" cy="1097280"/>
          </a:xfrm>
          <a:prstGeom prst="roundRect">
            <a:avLst>
              <a:gd name="adj" fmla="val 10000"/>
            </a:avLst>
          </a:prstGeom>
          <a:solidFill>
            <a:schemeClr val="bg2"/>
          </a:solidFill>
          <a:ln w="12700">
            <a:solidFill>
              <a:schemeClr val="bg2"/>
            </a:solidFill>
            <a:prstDash val="solid"/>
          </a:ln>
        </p:spPr>
      </p:sp>
      <p:sp>
        <p:nvSpPr>
          <p:cNvPr id="19" name="text-90"/>
          <p:cNvSpPr txBox="1"/>
          <p:nvPr/>
        </p:nvSpPr>
        <p:spPr>
          <a:xfrm>
            <a:off x="822960" y="5303520"/>
            <a:ext cx="310896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Oct – Dec 2026</a:t>
            </a:r>
            <a:endParaRPr lang="en-US" sz="2400" dirty="0"/>
          </a:p>
        </p:txBody>
      </p:sp>
      <p:sp>
        <p:nvSpPr>
          <p:cNvPr id="20" name="text-91"/>
          <p:cNvSpPr txBox="1"/>
          <p:nvPr/>
        </p:nvSpPr>
        <p:spPr>
          <a:xfrm>
            <a:off x="822960" y="5760720"/>
            <a:ext cx="3108960" cy="457200"/>
          </a:xfrm>
          <a:prstGeom prst="rect">
            <a:avLst/>
          </a:prstGeom>
          <a:noFill/>
          <a:ln/>
        </p:spPr>
        <p:txBody>
          <a:bodyPr wrap="square" lIns="0" tIns="0" rIns="0" bIns="0" rtlCol="0" anchor="t"/>
          <a:lstStyle/>
          <a:p>
            <a:pPr indent="0" marL="0">
              <a:buNone/>
            </a:pPr>
            <a:r>
              <a:rPr lang="en-US" sz="1400" dirty="0">
                <a:solidFill>
                  <a:schemeClr val="tx1"/>
                </a:solidFill>
              </a:rPr>
              <a:t>Project timeline</a:t>
            </a:r>
            <a:endParaRPr lang="en-US" sz="1400" dirty="0"/>
          </a:p>
        </p:txBody>
      </p:sp>
      <p:sp>
        <p:nvSpPr>
          <p:cNvPr id="21" name="card-92"/>
          <p:cNvSpPr/>
          <p:nvPr/>
        </p:nvSpPr>
        <p:spPr>
          <a:xfrm>
            <a:off x="4311396" y="5212080"/>
            <a:ext cx="3566160" cy="1097280"/>
          </a:xfrm>
          <a:prstGeom prst="roundRect">
            <a:avLst>
              <a:gd name="adj" fmla="val 10000"/>
            </a:avLst>
          </a:prstGeom>
          <a:solidFill>
            <a:schemeClr val="bg2"/>
          </a:solidFill>
          <a:ln w="12700">
            <a:solidFill>
              <a:schemeClr val="bg2"/>
            </a:solidFill>
            <a:prstDash val="solid"/>
          </a:ln>
        </p:spPr>
      </p:sp>
      <p:sp>
        <p:nvSpPr>
          <p:cNvPr id="22" name="text-93"/>
          <p:cNvSpPr txBox="1"/>
          <p:nvPr/>
        </p:nvSpPr>
        <p:spPr>
          <a:xfrm>
            <a:off x="4585716" y="5303520"/>
            <a:ext cx="310896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$0</a:t>
            </a:r>
            <a:endParaRPr lang="en-US" sz="2400" dirty="0"/>
          </a:p>
        </p:txBody>
      </p:sp>
      <p:sp>
        <p:nvSpPr>
          <p:cNvPr id="23" name="text-94"/>
          <p:cNvSpPr txBox="1"/>
          <p:nvPr/>
        </p:nvSpPr>
        <p:spPr>
          <a:xfrm>
            <a:off x="4585716" y="5760720"/>
            <a:ext cx="3108960" cy="457200"/>
          </a:xfrm>
          <a:prstGeom prst="rect">
            <a:avLst/>
          </a:prstGeom>
          <a:noFill/>
          <a:ln/>
        </p:spPr>
        <p:txBody>
          <a:bodyPr wrap="square" lIns="0" tIns="0" rIns="0" bIns="0" rtlCol="0" anchor="t"/>
          <a:lstStyle/>
          <a:p>
            <a:pPr indent="0" marL="0">
              <a:buNone/>
            </a:pPr>
            <a:r>
              <a:rPr lang="en-US" sz="1400" dirty="0">
                <a:solidFill>
                  <a:schemeClr val="tx1"/>
                </a:solidFill>
              </a:rPr>
              <a:t>Academic, non-commercial budget</a:t>
            </a:r>
            <a:endParaRPr lang="en-US" sz="1400" dirty="0"/>
          </a:p>
        </p:txBody>
      </p:sp>
      <p:sp>
        <p:nvSpPr>
          <p:cNvPr id="24" name="card-95"/>
          <p:cNvSpPr/>
          <p:nvPr/>
        </p:nvSpPr>
        <p:spPr>
          <a:xfrm>
            <a:off x="8074152" y="5212080"/>
            <a:ext cx="3566160" cy="1097280"/>
          </a:xfrm>
          <a:prstGeom prst="roundRect">
            <a:avLst>
              <a:gd name="adj" fmla="val 10000"/>
            </a:avLst>
          </a:prstGeom>
          <a:solidFill>
            <a:schemeClr val="bg2"/>
          </a:solidFill>
          <a:ln w="12700">
            <a:solidFill>
              <a:schemeClr val="bg2"/>
            </a:solidFill>
            <a:prstDash val="solid"/>
          </a:ln>
        </p:spPr>
      </p:sp>
      <p:sp>
        <p:nvSpPr>
          <p:cNvPr id="25" name="text-96"/>
          <p:cNvSpPr txBox="1"/>
          <p:nvPr/>
        </p:nvSpPr>
        <p:spPr>
          <a:xfrm>
            <a:off x="8348472" y="5303520"/>
            <a:ext cx="310896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Not included</a:t>
            </a:r>
            <a:endParaRPr lang="en-US" sz="2400" dirty="0"/>
          </a:p>
        </p:txBody>
      </p:sp>
      <p:sp>
        <p:nvSpPr>
          <p:cNvPr id="26" name="text-97"/>
          <p:cNvSpPr txBox="1"/>
          <p:nvPr/>
        </p:nvSpPr>
        <p:spPr>
          <a:xfrm>
            <a:off x="8348472" y="5760720"/>
            <a:ext cx="3108960" cy="457200"/>
          </a:xfrm>
          <a:prstGeom prst="rect">
            <a:avLst/>
          </a:prstGeom>
          <a:noFill/>
          <a:ln/>
        </p:spPr>
        <p:txBody>
          <a:bodyPr wrap="square" lIns="0" tIns="0" rIns="0" bIns="0" rtlCol="0" anchor="t"/>
          <a:lstStyle/>
          <a:p>
            <a:pPr indent="0" marL="0">
              <a:buNone/>
            </a:pPr>
            <a:r>
              <a:rPr lang="en-US" sz="1400" dirty="0">
                <a:solidFill>
                  <a:schemeClr val="tx1"/>
                </a:solidFill>
              </a:rPr>
              <a:t>Online payments, custom back-end, mobile apps</a:t>
            </a:r>
            <a:endParaRPr lang="en-US" sz="14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Contract: Team Roles and Agreement Guidelines</a:t>
            </a:r>
            <a:endParaRPr lang="en-US" sz="3400" dirty="0"/>
          </a:p>
        </p:txBody>
      </p:sp>
      <p:sp>
        <p:nvSpPr>
          <p:cNvPr id="3" name="card-98"/>
          <p:cNvSpPr/>
          <p:nvPr/>
        </p:nvSpPr>
        <p:spPr>
          <a:xfrm>
            <a:off x="548640" y="1371600"/>
            <a:ext cx="3566160" cy="1600200"/>
          </a:xfrm>
          <a:prstGeom prst="roundRect">
            <a:avLst>
              <a:gd name="adj" fmla="val 6857"/>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4" name="avatar-99"/>
          <p:cNvSpPr/>
          <p:nvPr/>
        </p:nvSpPr>
        <p:spPr>
          <a:xfrm>
            <a:off x="777240" y="1828800"/>
            <a:ext cx="685800" cy="685800"/>
          </a:xfrm>
          <a:prstGeom prst="ellipse">
            <a:avLst/>
          </a:prstGeom>
          <a:solidFill>
            <a:schemeClr val="accent1"/>
          </a:solidFill>
          <a:ln w="12700">
            <a:solidFill>
              <a:srgbClr val="B5536C"/>
            </a:solidFill>
            <a:prstDash val="solid"/>
          </a:ln>
        </p:spPr>
      </p:sp>
      <p:sp>
        <p:nvSpPr>
          <p:cNvPr id="5" name="text-100"/>
          <p:cNvSpPr txBox="1"/>
          <p:nvPr/>
        </p:nvSpPr>
        <p:spPr>
          <a:xfrm>
            <a:off x="777240" y="182880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UD</a:t>
            </a:r>
            <a:endParaRPr lang="en-US" sz="2000" dirty="0"/>
          </a:p>
        </p:txBody>
      </p:sp>
      <p:sp>
        <p:nvSpPr>
          <p:cNvPr id="6" name="text-101"/>
          <p:cNvSpPr txBox="1"/>
          <p:nvPr/>
        </p:nvSpPr>
        <p:spPr>
          <a:xfrm>
            <a:off x="1645920" y="1554480"/>
            <a:ext cx="2331720" cy="502920"/>
          </a:xfrm>
          <a:prstGeom prst="rect">
            <a:avLst/>
          </a:prstGeom>
          <a:noFill/>
          <a:ln/>
        </p:spPr>
        <p:txBody>
          <a:bodyPr wrap="square" lIns="0" tIns="0" rIns="0" bIns="0" rtlCol="0" anchor="ctr"/>
          <a:lstStyle/>
          <a:p>
            <a:pPr indent="0" marL="0">
              <a:buNone/>
            </a:pPr>
            <a:r>
              <a:rPr lang="en-US" sz="1600" b="1" dirty="0">
                <a:solidFill>
                  <a:schemeClr val="bg1"/>
                </a:solidFill>
              </a:rPr>
              <a:t>Usenadinova Dilaram</a:t>
            </a:r>
            <a:endParaRPr lang="en-US" sz="1600" dirty="0"/>
          </a:p>
        </p:txBody>
      </p:sp>
      <p:sp>
        <p:nvSpPr>
          <p:cNvPr id="7" name="text-102"/>
          <p:cNvSpPr txBox="1"/>
          <p:nvPr/>
        </p:nvSpPr>
        <p:spPr>
          <a:xfrm>
            <a:off x="1645920" y="2057400"/>
            <a:ext cx="2331720" cy="777240"/>
          </a:xfrm>
          <a:prstGeom prst="rect">
            <a:avLst/>
          </a:prstGeom>
          <a:noFill/>
          <a:ln/>
        </p:spPr>
        <p:txBody>
          <a:bodyPr wrap="square" lIns="0" tIns="0" rIns="0" bIns="0" rtlCol="0" anchor="t"/>
          <a:lstStyle/>
          <a:p>
            <a:pPr indent="0" marL="0">
              <a:buNone/>
            </a:pPr>
            <a:r>
              <a:rPr lang="en-US" sz="1400" dirty="0">
                <a:solidFill>
                  <a:schemeClr val="accent4"/>
                </a:solidFill>
              </a:rPr>
              <a:t>Team Leader &amp; Project Manager</a:t>
            </a:r>
            <a:endParaRPr lang="en-US" sz="1400" dirty="0"/>
          </a:p>
        </p:txBody>
      </p:sp>
      <p:sp>
        <p:nvSpPr>
          <p:cNvPr id="8" name="card-103"/>
          <p:cNvSpPr/>
          <p:nvPr/>
        </p:nvSpPr>
        <p:spPr>
          <a:xfrm>
            <a:off x="4311396" y="1371600"/>
            <a:ext cx="3566160" cy="1600200"/>
          </a:xfrm>
          <a:prstGeom prst="roundRect">
            <a:avLst>
              <a:gd name="adj" fmla="val 6857"/>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9" name="avatar-104"/>
          <p:cNvSpPr/>
          <p:nvPr/>
        </p:nvSpPr>
        <p:spPr>
          <a:xfrm>
            <a:off x="4539996" y="1828800"/>
            <a:ext cx="685800" cy="685800"/>
          </a:xfrm>
          <a:prstGeom prst="ellipse">
            <a:avLst/>
          </a:prstGeom>
          <a:solidFill>
            <a:schemeClr val="accent1"/>
          </a:solidFill>
          <a:ln w="12700">
            <a:solidFill>
              <a:srgbClr val="B5536C"/>
            </a:solidFill>
            <a:prstDash val="solid"/>
          </a:ln>
        </p:spPr>
      </p:sp>
      <p:sp>
        <p:nvSpPr>
          <p:cNvPr id="10" name="text-105"/>
          <p:cNvSpPr txBox="1"/>
          <p:nvPr/>
        </p:nvSpPr>
        <p:spPr>
          <a:xfrm>
            <a:off x="4539996" y="182880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BR</a:t>
            </a:r>
            <a:endParaRPr lang="en-US" sz="2000" dirty="0"/>
          </a:p>
        </p:txBody>
      </p:sp>
      <p:sp>
        <p:nvSpPr>
          <p:cNvPr id="11" name="text-106"/>
          <p:cNvSpPr txBox="1"/>
          <p:nvPr/>
        </p:nvSpPr>
        <p:spPr>
          <a:xfrm>
            <a:off x="5408676" y="1554480"/>
            <a:ext cx="2331720" cy="502920"/>
          </a:xfrm>
          <a:prstGeom prst="rect">
            <a:avLst/>
          </a:prstGeom>
          <a:noFill/>
          <a:ln/>
        </p:spPr>
        <p:txBody>
          <a:bodyPr wrap="square" lIns="0" tIns="0" rIns="0" bIns="0" rtlCol="0" anchor="ctr"/>
          <a:lstStyle/>
          <a:p>
            <a:pPr indent="0" marL="0">
              <a:buNone/>
            </a:pPr>
            <a:r>
              <a:rPr lang="en-US" sz="1600" b="1" dirty="0">
                <a:solidFill>
                  <a:schemeClr val="bg1"/>
                </a:solidFill>
              </a:rPr>
              <a:t>Baxtiyorova Ruxshona</a:t>
            </a:r>
            <a:endParaRPr lang="en-US" sz="1600" dirty="0"/>
          </a:p>
        </p:txBody>
      </p:sp>
      <p:sp>
        <p:nvSpPr>
          <p:cNvPr id="12" name="text-107"/>
          <p:cNvSpPr txBox="1"/>
          <p:nvPr/>
        </p:nvSpPr>
        <p:spPr>
          <a:xfrm>
            <a:off x="5408676" y="2057400"/>
            <a:ext cx="2331720" cy="777240"/>
          </a:xfrm>
          <a:prstGeom prst="rect">
            <a:avLst/>
          </a:prstGeom>
          <a:noFill/>
          <a:ln/>
        </p:spPr>
        <p:txBody>
          <a:bodyPr wrap="square" lIns="0" tIns="0" rIns="0" bIns="0" rtlCol="0" anchor="t"/>
          <a:lstStyle/>
          <a:p>
            <a:pPr indent="0" marL="0">
              <a:buNone/>
            </a:pPr>
            <a:r>
              <a:rPr lang="en-US" sz="1400" dirty="0">
                <a:solidFill>
                  <a:schemeClr val="accent4"/>
                </a:solidFill>
              </a:rPr>
              <a:t>Information Analyst &amp; Web Content Designer</a:t>
            </a:r>
            <a:endParaRPr lang="en-US" sz="1400" dirty="0"/>
          </a:p>
        </p:txBody>
      </p:sp>
      <p:sp>
        <p:nvSpPr>
          <p:cNvPr id="13" name="card-108"/>
          <p:cNvSpPr/>
          <p:nvPr/>
        </p:nvSpPr>
        <p:spPr>
          <a:xfrm>
            <a:off x="8074152" y="1371600"/>
            <a:ext cx="3566160" cy="1600200"/>
          </a:xfrm>
          <a:prstGeom prst="roundRect">
            <a:avLst>
              <a:gd name="adj" fmla="val 6857"/>
            </a:avLst>
          </a:prstGeom>
          <a:solidFill>
            <a:schemeClr val="tx2"/>
          </a:solidFill>
          <a:ln w="12700">
            <a:solidFill>
              <a:schemeClr val="tx2"/>
            </a:solidFill>
            <a:prstDash val="solid"/>
          </a:ln>
          <a:effectLst>
            <a:outerShdw sx="100000" sy="100000" kx="0" ky="0" algn="bl" rotWithShape="0" blurRad="101600" dist="25400" dir="5400000">
              <a:srgbClr val="000000">
                <a:alpha val="12000"/>
              </a:srgbClr>
            </a:outerShdw>
          </a:effectLst>
        </p:spPr>
      </p:sp>
      <p:sp>
        <p:nvSpPr>
          <p:cNvPr id="14" name="avatar-109"/>
          <p:cNvSpPr/>
          <p:nvPr/>
        </p:nvSpPr>
        <p:spPr>
          <a:xfrm>
            <a:off x="8302752" y="1828800"/>
            <a:ext cx="685800" cy="685800"/>
          </a:xfrm>
          <a:prstGeom prst="ellipse">
            <a:avLst/>
          </a:prstGeom>
          <a:solidFill>
            <a:schemeClr val="accent1"/>
          </a:solidFill>
          <a:ln w="12700">
            <a:solidFill>
              <a:srgbClr val="B5536C"/>
            </a:solidFill>
            <a:prstDash val="solid"/>
          </a:ln>
        </p:spPr>
      </p:sp>
      <p:sp>
        <p:nvSpPr>
          <p:cNvPr id="15" name="text-110"/>
          <p:cNvSpPr txBox="1"/>
          <p:nvPr/>
        </p:nvSpPr>
        <p:spPr>
          <a:xfrm>
            <a:off x="8302752" y="1828800"/>
            <a:ext cx="685800" cy="685800"/>
          </a:xfrm>
          <a:prstGeom prst="rect">
            <a:avLst/>
          </a:prstGeom>
          <a:noFill/>
          <a:ln/>
        </p:spPr>
        <p:txBody>
          <a:bodyPr wrap="square" lIns="0" tIns="0" rIns="0" bIns="0" rtlCol="0" anchor="ctr"/>
          <a:lstStyle/>
          <a:p>
            <a:pPr algn="ctr" indent="0" marL="0">
              <a:buNone/>
            </a:pPr>
            <a:r>
              <a:rPr lang="en-US" sz="2000" b="1" dirty="0">
                <a:solidFill>
                  <a:schemeClr val="bg1"/>
                </a:solidFill>
                <a:latin typeface="Cambria" pitchFamily="34" charset="0"/>
                <a:ea typeface="Cambria" pitchFamily="34" charset="-122"/>
                <a:cs typeface="Cambria" pitchFamily="34" charset="-120"/>
              </a:rPr>
              <a:t>EM</a:t>
            </a:r>
            <a:endParaRPr lang="en-US" sz="2000" dirty="0"/>
          </a:p>
        </p:txBody>
      </p:sp>
      <p:sp>
        <p:nvSpPr>
          <p:cNvPr id="16" name="text-111"/>
          <p:cNvSpPr txBox="1"/>
          <p:nvPr/>
        </p:nvSpPr>
        <p:spPr>
          <a:xfrm>
            <a:off x="9171432" y="1554480"/>
            <a:ext cx="2331720" cy="502920"/>
          </a:xfrm>
          <a:prstGeom prst="rect">
            <a:avLst/>
          </a:prstGeom>
          <a:noFill/>
          <a:ln/>
        </p:spPr>
        <p:txBody>
          <a:bodyPr wrap="square" lIns="0" tIns="0" rIns="0" bIns="0" rtlCol="0" anchor="ctr"/>
          <a:lstStyle/>
          <a:p>
            <a:pPr indent="0" marL="0">
              <a:buNone/>
            </a:pPr>
            <a:r>
              <a:rPr lang="en-US" sz="1600" b="1" dirty="0">
                <a:solidFill>
                  <a:schemeClr val="bg1"/>
                </a:solidFill>
              </a:rPr>
              <a:t>Ergasheva Madinabonu</a:t>
            </a:r>
            <a:endParaRPr lang="en-US" sz="1600" dirty="0"/>
          </a:p>
        </p:txBody>
      </p:sp>
      <p:sp>
        <p:nvSpPr>
          <p:cNvPr id="17" name="text-112"/>
          <p:cNvSpPr txBox="1"/>
          <p:nvPr/>
        </p:nvSpPr>
        <p:spPr>
          <a:xfrm>
            <a:off x="9171432" y="2057400"/>
            <a:ext cx="2331720" cy="777240"/>
          </a:xfrm>
          <a:prstGeom prst="rect">
            <a:avLst/>
          </a:prstGeom>
          <a:noFill/>
          <a:ln/>
        </p:spPr>
        <p:txBody>
          <a:bodyPr wrap="square" lIns="0" tIns="0" rIns="0" bIns="0" rtlCol="0" anchor="t"/>
          <a:lstStyle/>
          <a:p>
            <a:pPr indent="0" marL="0">
              <a:buNone/>
            </a:pPr>
            <a:r>
              <a:rPr lang="en-US" sz="1400" dirty="0">
                <a:solidFill>
                  <a:schemeClr val="accent4"/>
                </a:solidFill>
              </a:rPr>
              <a:t>AI Strategist &amp; Data (Google Sheets) Specialist</a:t>
            </a:r>
            <a:endParaRPr lang="en-US" sz="1400" dirty="0"/>
          </a:p>
        </p:txBody>
      </p:sp>
      <p:sp>
        <p:nvSpPr>
          <p:cNvPr id="18" name="card-113"/>
          <p:cNvSpPr/>
          <p:nvPr/>
        </p:nvSpPr>
        <p:spPr>
          <a:xfrm>
            <a:off x="548640" y="3246120"/>
            <a:ext cx="3566160" cy="3063240"/>
          </a:xfrm>
          <a:prstGeom prst="roundRect">
            <a:avLst>
              <a:gd name="adj" fmla="val 3582"/>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19" name="circle-114"/>
          <p:cNvSpPr/>
          <p:nvPr/>
        </p:nvSpPr>
        <p:spPr>
          <a:xfrm>
            <a:off x="777240" y="3474720"/>
            <a:ext cx="548640" cy="548640"/>
          </a:xfrm>
          <a:prstGeom prst="ellipse">
            <a:avLst/>
          </a:prstGeom>
          <a:solidFill>
            <a:schemeClr val="accent1"/>
          </a:solidFill>
          <a:ln w="12700">
            <a:solidFill>
              <a:schemeClr val="accent1"/>
            </a:solidFill>
            <a:prstDash val="solid"/>
          </a:ln>
        </p:spPr>
      </p:sp>
      <p:pic>
        <p:nvPicPr>
          <p:cNvPr id="20" name="icon-115" descr="icon">    </p:cNvPr>
          <p:cNvPicPr>
            <a:picLocks noChangeAspect="1"/>
          </p:cNvPicPr>
          <p:nvPr/>
        </p:nvPicPr>
        <p:blipFill>
          <a:blip r:embed="rId1"/>
          <a:stretch>
            <a:fillRect/>
          </a:stretch>
        </p:blipFill>
        <p:spPr>
          <a:xfrm>
            <a:off x="914400" y="3611880"/>
            <a:ext cx="274320" cy="274320"/>
          </a:xfrm>
          <a:prstGeom prst="rect">
            <a:avLst/>
          </a:prstGeom>
        </p:spPr>
      </p:pic>
      <p:sp>
        <p:nvSpPr>
          <p:cNvPr id="21" name="text-116"/>
          <p:cNvSpPr txBox="1"/>
          <p:nvPr/>
        </p:nvSpPr>
        <p:spPr>
          <a:xfrm>
            <a:off x="1508760" y="3474720"/>
            <a:ext cx="2423160" cy="548640"/>
          </a:xfrm>
          <a:prstGeom prst="rect">
            <a:avLst/>
          </a:prstGeom>
          <a:noFill/>
          <a:ln/>
        </p:spPr>
        <p:txBody>
          <a:bodyPr wrap="square" lIns="0" tIns="0" rIns="0" bIns="0" rtlCol="0" anchor="ctr"/>
          <a:lstStyle/>
          <a:p>
            <a:pPr indent="0" marL="0">
              <a:buNone/>
            </a:pPr>
            <a:r>
              <a:rPr lang="en-US" sz="1800" b="1" dirty="0">
                <a:solidFill>
                  <a:schemeClr val="tx2"/>
                </a:solidFill>
              </a:rPr>
              <a:t>Customer</a:t>
            </a:r>
            <a:endParaRPr lang="en-US" sz="1800" dirty="0"/>
          </a:p>
        </p:txBody>
      </p:sp>
      <p:sp>
        <p:nvSpPr>
          <p:cNvPr id="22" name="bullets-117"/>
          <p:cNvSpPr txBox="1"/>
          <p:nvPr/>
        </p:nvSpPr>
        <p:spPr>
          <a:xfrm>
            <a:off x="822960" y="4251960"/>
            <a:ext cx="3017520" cy="18745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Explain business needs</a:t>
            </a:r>
            <a:endParaRPr lang="en-US" sz="1400" dirty="0"/>
          </a:p>
          <a:p>
            <a:pPr marL="177800" indent="-177800">
              <a:spcAft>
                <a:spcPts val="500"/>
              </a:spcAft>
              <a:buSzPct val="100000"/>
              <a:buChar char="•"/>
            </a:pPr>
            <a:r>
              <a:rPr lang="en-US" sz="1400" dirty="0">
                <a:solidFill>
                  <a:schemeClr val="tx1"/>
                </a:solidFill>
              </a:rPr>
              <a:t>Provide products, prices, photos and logo</a:t>
            </a:r>
            <a:endParaRPr lang="en-US" sz="1400" dirty="0"/>
          </a:p>
          <a:p>
            <a:pPr marL="177800" indent="-177800">
              <a:spcAft>
                <a:spcPts val="500"/>
              </a:spcAft>
              <a:buSzPct val="100000"/>
              <a:buChar char="•"/>
            </a:pPr>
            <a:r>
              <a:rPr lang="en-US" sz="1400" dirty="0">
                <a:solidFill>
                  <a:schemeClr val="tx1"/>
                </a:solidFill>
              </a:rPr>
              <a:t>Give timely feedback on milestones</a:t>
            </a:r>
            <a:endParaRPr lang="en-US" sz="1400" dirty="0"/>
          </a:p>
        </p:txBody>
      </p:sp>
      <p:sp>
        <p:nvSpPr>
          <p:cNvPr id="23" name="card-118"/>
          <p:cNvSpPr/>
          <p:nvPr/>
        </p:nvSpPr>
        <p:spPr>
          <a:xfrm>
            <a:off x="4311396" y="3246120"/>
            <a:ext cx="3566160" cy="3063240"/>
          </a:xfrm>
          <a:prstGeom prst="roundRect">
            <a:avLst>
              <a:gd name="adj" fmla="val 3582"/>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24" name="circle-119"/>
          <p:cNvSpPr/>
          <p:nvPr/>
        </p:nvSpPr>
        <p:spPr>
          <a:xfrm>
            <a:off x="4539996" y="3474720"/>
            <a:ext cx="548640" cy="548640"/>
          </a:xfrm>
          <a:prstGeom prst="ellipse">
            <a:avLst/>
          </a:prstGeom>
          <a:solidFill>
            <a:schemeClr val="accent1"/>
          </a:solidFill>
          <a:ln w="12700">
            <a:solidFill>
              <a:schemeClr val="accent1"/>
            </a:solidFill>
            <a:prstDash val="solid"/>
          </a:ln>
        </p:spPr>
      </p:sp>
      <p:pic>
        <p:nvPicPr>
          <p:cNvPr id="25" name="icon-120" descr="icon">    </p:cNvPr>
          <p:cNvPicPr>
            <a:picLocks noChangeAspect="1"/>
          </p:cNvPicPr>
          <p:nvPr/>
        </p:nvPicPr>
        <p:blipFill>
          <a:blip r:embed="rId2"/>
          <a:stretch>
            <a:fillRect/>
          </a:stretch>
        </p:blipFill>
        <p:spPr>
          <a:xfrm>
            <a:off x="4677156" y="3611880"/>
            <a:ext cx="274320" cy="274320"/>
          </a:xfrm>
          <a:prstGeom prst="rect">
            <a:avLst/>
          </a:prstGeom>
        </p:spPr>
      </p:pic>
      <p:sp>
        <p:nvSpPr>
          <p:cNvPr id="26" name="text-121"/>
          <p:cNvSpPr txBox="1"/>
          <p:nvPr/>
        </p:nvSpPr>
        <p:spPr>
          <a:xfrm>
            <a:off x="5271516" y="3474720"/>
            <a:ext cx="2423160" cy="548640"/>
          </a:xfrm>
          <a:prstGeom prst="rect">
            <a:avLst/>
          </a:prstGeom>
          <a:noFill/>
          <a:ln/>
        </p:spPr>
        <p:txBody>
          <a:bodyPr wrap="square" lIns="0" tIns="0" rIns="0" bIns="0" rtlCol="0" anchor="ctr"/>
          <a:lstStyle/>
          <a:p>
            <a:pPr indent="0" marL="0">
              <a:buNone/>
            </a:pPr>
            <a:r>
              <a:rPr lang="en-US" sz="1800" b="1" dirty="0">
                <a:solidFill>
                  <a:schemeClr val="tx2"/>
                </a:solidFill>
              </a:rPr>
              <a:t>Development team</a:t>
            </a:r>
            <a:endParaRPr lang="en-US" sz="1800" dirty="0"/>
          </a:p>
        </p:txBody>
      </p:sp>
      <p:sp>
        <p:nvSpPr>
          <p:cNvPr id="27" name="bullets-122"/>
          <p:cNvSpPr txBox="1"/>
          <p:nvPr/>
        </p:nvSpPr>
        <p:spPr>
          <a:xfrm>
            <a:off x="4585716" y="4251960"/>
            <a:ext cx="3017520" cy="18745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Analyze requirements</a:t>
            </a:r>
            <a:endParaRPr lang="en-US" sz="1400" dirty="0"/>
          </a:p>
          <a:p>
            <a:pPr marL="177800" indent="-177800">
              <a:spcAft>
                <a:spcPts val="500"/>
              </a:spcAft>
              <a:buSzPct val="100000"/>
              <a:buChar char="•"/>
            </a:pPr>
            <a:r>
              <a:rPr lang="en-US" sz="1400" dirty="0">
                <a:solidFill>
                  <a:schemeClr val="tx1"/>
                </a:solidFill>
              </a:rPr>
              <a:t>Build the site and Sheets structure</a:t>
            </a:r>
            <a:endParaRPr lang="en-US" sz="1400" dirty="0"/>
          </a:p>
          <a:p>
            <a:pPr marL="177800" indent="-177800">
              <a:spcAft>
                <a:spcPts val="500"/>
              </a:spcAft>
              <a:buSzPct val="100000"/>
              <a:buChar char="•"/>
            </a:pPr>
            <a:r>
              <a:rPr lang="en-US" sz="1400" dirty="0">
                <a:solidFill>
                  <a:schemeClr val="tx1"/>
                </a:solidFill>
              </a:rPr>
              <a:t>Communicate regularly</a:t>
            </a:r>
            <a:endParaRPr lang="en-US" sz="1400" dirty="0"/>
          </a:p>
          <a:p>
            <a:pPr marL="177800" indent="-177800">
              <a:spcAft>
                <a:spcPts val="500"/>
              </a:spcAft>
              <a:buSzPct val="100000"/>
              <a:buChar char="•"/>
            </a:pPr>
            <a:r>
              <a:rPr lang="en-US" sz="1400" dirty="0">
                <a:solidFill>
                  <a:schemeClr val="tx1"/>
                </a:solidFill>
              </a:rPr>
              <a:t>Deliver results and documentation</a:t>
            </a:r>
            <a:endParaRPr lang="en-US" sz="1400" dirty="0"/>
          </a:p>
        </p:txBody>
      </p:sp>
      <p:sp>
        <p:nvSpPr>
          <p:cNvPr id="28" name="card-123"/>
          <p:cNvSpPr/>
          <p:nvPr/>
        </p:nvSpPr>
        <p:spPr>
          <a:xfrm>
            <a:off x="8074152" y="3246120"/>
            <a:ext cx="3566160" cy="3063240"/>
          </a:xfrm>
          <a:prstGeom prst="roundRect">
            <a:avLst>
              <a:gd name="adj" fmla="val 3582"/>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29" name="circle-124"/>
          <p:cNvSpPr/>
          <p:nvPr/>
        </p:nvSpPr>
        <p:spPr>
          <a:xfrm>
            <a:off x="8302752" y="3474720"/>
            <a:ext cx="548640" cy="548640"/>
          </a:xfrm>
          <a:prstGeom prst="ellipse">
            <a:avLst/>
          </a:prstGeom>
          <a:solidFill>
            <a:schemeClr val="accent1"/>
          </a:solidFill>
          <a:ln w="12700">
            <a:solidFill>
              <a:schemeClr val="accent1"/>
            </a:solidFill>
            <a:prstDash val="solid"/>
          </a:ln>
        </p:spPr>
      </p:sp>
      <p:pic>
        <p:nvPicPr>
          <p:cNvPr id="30" name="icon-125" descr="icon">    </p:cNvPr>
          <p:cNvPicPr>
            <a:picLocks noChangeAspect="1"/>
          </p:cNvPicPr>
          <p:nvPr/>
        </p:nvPicPr>
        <p:blipFill>
          <a:blip r:embed="rId3"/>
          <a:stretch>
            <a:fillRect/>
          </a:stretch>
        </p:blipFill>
        <p:spPr>
          <a:xfrm>
            <a:off x="8439912" y="3611880"/>
            <a:ext cx="274320" cy="274320"/>
          </a:xfrm>
          <a:prstGeom prst="rect">
            <a:avLst/>
          </a:prstGeom>
        </p:spPr>
      </p:pic>
      <p:sp>
        <p:nvSpPr>
          <p:cNvPr id="31" name="text-126"/>
          <p:cNvSpPr txBox="1"/>
          <p:nvPr/>
        </p:nvSpPr>
        <p:spPr>
          <a:xfrm>
            <a:off x="9034272" y="3474720"/>
            <a:ext cx="2423160" cy="548640"/>
          </a:xfrm>
          <a:prstGeom prst="rect">
            <a:avLst/>
          </a:prstGeom>
          <a:noFill/>
          <a:ln/>
        </p:spPr>
        <p:txBody>
          <a:bodyPr wrap="square" lIns="0" tIns="0" rIns="0" bIns="0" rtlCol="0" anchor="ctr"/>
          <a:lstStyle/>
          <a:p>
            <a:pPr indent="0" marL="0">
              <a:buNone/>
            </a:pPr>
            <a:r>
              <a:rPr lang="en-US" sz="1800" b="1" dirty="0">
                <a:solidFill>
                  <a:schemeClr val="tx2"/>
                </a:solidFill>
              </a:rPr>
              <a:t>Changes and approval</a:t>
            </a:r>
            <a:endParaRPr lang="en-US" sz="1800" dirty="0"/>
          </a:p>
        </p:txBody>
      </p:sp>
      <p:sp>
        <p:nvSpPr>
          <p:cNvPr id="32" name="bullets-127"/>
          <p:cNvSpPr txBox="1"/>
          <p:nvPr/>
        </p:nvSpPr>
        <p:spPr>
          <a:xfrm>
            <a:off x="8348472" y="4251960"/>
            <a:ext cx="3017520" cy="18745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Major scope changes are agreed by both sides first</a:t>
            </a:r>
            <a:endParaRPr lang="en-US" sz="1400" dirty="0"/>
          </a:p>
          <a:p>
            <a:pPr marL="177800" indent="-177800">
              <a:spcAft>
                <a:spcPts val="500"/>
              </a:spcAft>
              <a:buSzPct val="100000"/>
              <a:buChar char="•"/>
            </a:pPr>
            <a:r>
              <a:rPr lang="en-US" sz="1400" dirty="0">
                <a:solidFill>
                  <a:schemeClr val="tx1"/>
                </a:solidFill>
              </a:rPr>
              <a:t>Both parties cooperate in good faith</a:t>
            </a:r>
            <a:endParaRPr lang="en-US" sz="1400" dirty="0"/>
          </a:p>
          <a:p>
            <a:pPr marL="177800" indent="-177800">
              <a:spcAft>
                <a:spcPts val="500"/>
              </a:spcAft>
              <a:buSzPct val="100000"/>
              <a:buChar char="•"/>
            </a:pPr>
            <a:r>
              <a:rPr lang="en-US" sz="1400" dirty="0">
                <a:solidFill>
                  <a:schemeClr val="tx1"/>
                </a:solidFill>
              </a:rPr>
              <a:t>Signed by customer and Team Leader</a:t>
            </a:r>
            <a:endParaRPr lang="en-US" sz="14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Use Case Modeling</a:t>
            </a:r>
            <a:endParaRPr lang="en-US" sz="3400" dirty="0"/>
          </a:p>
        </p:txBody>
      </p:sp>
      <p:sp>
        <p:nvSpPr>
          <p:cNvPr id="3" name="card-128"/>
          <p:cNvSpPr/>
          <p:nvPr/>
        </p:nvSpPr>
        <p:spPr>
          <a:xfrm>
            <a:off x="548640" y="1371600"/>
            <a:ext cx="7498080" cy="4172407"/>
          </a:xfrm>
          <a:prstGeom prst="roundRect">
            <a:avLst>
              <a:gd name="adj" fmla="val 2630"/>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pic>
        <p:nvPicPr>
          <p:cNvPr id="4" name="diagram-129" descr="Use case diagram for the Zetmart.uz cosmetics platform with Customer, Admin/Manager and Delivery Partner actors">    </p:cNvPr>
          <p:cNvPicPr>
            <a:picLocks noChangeAspect="1"/>
          </p:cNvPicPr>
          <p:nvPr/>
        </p:nvPicPr>
        <p:blipFill>
          <a:blip r:embed="rId1"/>
          <a:stretch>
            <a:fillRect/>
          </a:stretch>
        </p:blipFill>
        <p:spPr>
          <a:xfrm>
            <a:off x="640080" y="1463040"/>
            <a:ext cx="7315200" cy="3989527"/>
          </a:xfrm>
          <a:prstGeom prst="rect">
            <a:avLst/>
          </a:prstGeom>
        </p:spPr>
      </p:pic>
      <p:sp>
        <p:nvSpPr>
          <p:cNvPr id="5" name="card-130"/>
          <p:cNvSpPr/>
          <p:nvPr/>
        </p:nvSpPr>
        <p:spPr>
          <a:xfrm>
            <a:off x="8321040" y="1371600"/>
            <a:ext cx="3319272" cy="4169664"/>
          </a:xfrm>
          <a:prstGeom prst="roundRect">
            <a:avLst>
              <a:gd name="adj" fmla="val 3306"/>
            </a:avLst>
          </a:prstGeom>
          <a:solidFill>
            <a:schemeClr val="bg2"/>
          </a:solidFill>
          <a:ln w="12700">
            <a:solidFill>
              <a:schemeClr val="bg2"/>
            </a:solidFill>
            <a:prstDash val="solid"/>
          </a:ln>
        </p:spPr>
      </p:sp>
      <p:sp>
        <p:nvSpPr>
          <p:cNvPr id="6" name="text-131"/>
          <p:cNvSpPr txBox="1"/>
          <p:nvPr/>
        </p:nvSpPr>
        <p:spPr>
          <a:xfrm>
            <a:off x="8595360" y="1508760"/>
            <a:ext cx="1188720" cy="82296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14</a:t>
            </a:r>
            <a:endParaRPr lang="en-US" sz="5400" dirty="0"/>
          </a:p>
        </p:txBody>
      </p:sp>
      <p:sp>
        <p:nvSpPr>
          <p:cNvPr id="7" name="text-132"/>
          <p:cNvSpPr txBox="1"/>
          <p:nvPr/>
        </p:nvSpPr>
        <p:spPr>
          <a:xfrm>
            <a:off x="9784080" y="1554480"/>
            <a:ext cx="1737360" cy="777240"/>
          </a:xfrm>
          <a:prstGeom prst="rect">
            <a:avLst/>
          </a:prstGeom>
          <a:noFill/>
          <a:ln/>
        </p:spPr>
        <p:txBody>
          <a:bodyPr wrap="square" lIns="0" tIns="0" rIns="0" bIns="0" rtlCol="0" anchor="ctr"/>
          <a:lstStyle/>
          <a:p>
            <a:pPr indent="0" marL="0">
              <a:buNone/>
            </a:pPr>
            <a:r>
              <a:rPr lang="en-US" sz="1400" dirty="0">
                <a:solidFill>
                  <a:schemeClr val="tx1"/>
                </a:solidFill>
              </a:rPr>
              <a:t>use cases, 3 actors and 1 external system</a:t>
            </a:r>
            <a:endParaRPr lang="en-US" sz="1400" dirty="0"/>
          </a:p>
        </p:txBody>
      </p:sp>
      <p:sp>
        <p:nvSpPr>
          <p:cNvPr id="8" name="bullets-133"/>
          <p:cNvSpPr txBox="1"/>
          <p:nvPr/>
        </p:nvSpPr>
        <p:spPr>
          <a:xfrm>
            <a:off x="8595360" y="2560320"/>
            <a:ext cx="2834640" cy="28346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Customer: browse, order, review</a:t>
            </a:r>
            <a:endParaRPr lang="en-US" sz="1400" dirty="0"/>
          </a:p>
          <a:p>
            <a:pPr marL="177800" indent="-177800">
              <a:spcAft>
                <a:spcPts val="500"/>
              </a:spcAft>
              <a:buSzPct val="100000"/>
              <a:buChar char="•"/>
            </a:pPr>
            <a:r>
              <a:rPr lang="en-US" sz="1400" dirty="0">
                <a:solidFill>
                  <a:schemeClr val="tx1"/>
                </a:solidFill>
              </a:rPr>
              <a:t>Admin / Manager: inventory, promotions, reports</a:t>
            </a:r>
            <a:endParaRPr lang="en-US" sz="1400" dirty="0"/>
          </a:p>
          <a:p>
            <a:pPr marL="177800" indent="-177800">
              <a:spcAft>
                <a:spcPts val="500"/>
              </a:spcAft>
              <a:buSzPct val="100000"/>
              <a:buChar char="•"/>
            </a:pPr>
            <a:r>
              <a:rPr lang="en-US" sz="1400" dirty="0">
                <a:solidFill>
                  <a:schemeClr val="tx1"/>
                </a:solidFill>
              </a:rPr>
              <a:t>Courier: delivery and status updates</a:t>
            </a:r>
            <a:endParaRPr lang="en-US" sz="1400" dirty="0"/>
          </a:p>
          <a:p>
            <a:pPr marL="177800" indent="-177800">
              <a:spcAft>
                <a:spcPts val="500"/>
              </a:spcAft>
              <a:buSzPct val="100000"/>
              <a:buChar char="•"/>
            </a:pPr>
            <a:r>
              <a:rPr lang="en-US" sz="1400" dirty="0">
                <a:solidFill>
                  <a:schemeClr val="tx1"/>
                </a:solidFill>
              </a:rPr>
              <a:t>Payment systems: Click, Payme, Uzcard</a:t>
            </a:r>
            <a:endParaRPr lang="en-US" sz="1400" dirty="0"/>
          </a:p>
        </p:txBody>
      </p:sp>
      <p:sp>
        <p:nvSpPr>
          <p:cNvPr id="9" name="text-134"/>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400" i="1" dirty="0">
                <a:solidFill>
                  <a:schemeClr val="accent6"/>
                </a:solidFill>
              </a:rPr>
              <a:t>Include links: Browse &amp; Search → Filter by Skin Type/Brand, and Place Order → Process Payment.</a:t>
            </a:r>
            <a:endParaRPr lang="en-US" sz="14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Business Process Model (BPMN)</a:t>
            </a:r>
            <a:endParaRPr lang="en-US" sz="3400" dirty="0"/>
          </a:p>
        </p:txBody>
      </p:sp>
      <p:sp>
        <p:nvSpPr>
          <p:cNvPr id="3" name="card-135"/>
          <p:cNvSpPr/>
          <p:nvPr/>
        </p:nvSpPr>
        <p:spPr>
          <a:xfrm>
            <a:off x="548640" y="1371600"/>
            <a:ext cx="11091672" cy="2898648"/>
          </a:xfrm>
          <a:prstGeom prst="roundRect">
            <a:avLst>
              <a:gd name="adj" fmla="val 3785"/>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pic>
        <p:nvPicPr>
          <p:cNvPr id="4" name="diagram-136" descr="BPMN swimlane diagram of order management and local fulfillment for Zetmart.uz">    </p:cNvPr>
          <p:cNvPicPr>
            <a:picLocks noChangeAspect="1"/>
          </p:cNvPicPr>
          <p:nvPr/>
        </p:nvPicPr>
        <p:blipFill>
          <a:blip r:embed="rId1"/>
          <a:stretch>
            <a:fillRect/>
          </a:stretch>
        </p:blipFill>
        <p:spPr>
          <a:xfrm>
            <a:off x="640080" y="1463040"/>
            <a:ext cx="10908792" cy="2715768"/>
          </a:xfrm>
          <a:prstGeom prst="rect">
            <a:avLst/>
          </a:prstGeom>
        </p:spPr>
      </p:pic>
      <p:sp>
        <p:nvSpPr>
          <p:cNvPr id="5" name="card-137"/>
          <p:cNvSpPr/>
          <p:nvPr/>
        </p:nvSpPr>
        <p:spPr>
          <a:xfrm>
            <a:off x="548640" y="4434840"/>
            <a:ext cx="3566160" cy="1874520"/>
          </a:xfrm>
          <a:prstGeom prst="roundRect">
            <a:avLst>
              <a:gd name="adj" fmla="val 5854"/>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6" name="circle-138"/>
          <p:cNvSpPr/>
          <p:nvPr/>
        </p:nvSpPr>
        <p:spPr>
          <a:xfrm>
            <a:off x="777240" y="4663440"/>
            <a:ext cx="548640" cy="548640"/>
          </a:xfrm>
          <a:prstGeom prst="ellipse">
            <a:avLst/>
          </a:prstGeom>
          <a:solidFill>
            <a:schemeClr val="accent1"/>
          </a:solidFill>
          <a:ln w="12700">
            <a:solidFill>
              <a:schemeClr val="accent1"/>
            </a:solidFill>
            <a:prstDash val="solid"/>
          </a:ln>
        </p:spPr>
      </p:sp>
      <p:pic>
        <p:nvPicPr>
          <p:cNvPr id="7" name="icon-139" descr="icon">    </p:cNvPr>
          <p:cNvPicPr>
            <a:picLocks noChangeAspect="1"/>
          </p:cNvPicPr>
          <p:nvPr/>
        </p:nvPicPr>
        <p:blipFill>
          <a:blip r:embed="rId2"/>
          <a:stretch>
            <a:fillRect/>
          </a:stretch>
        </p:blipFill>
        <p:spPr>
          <a:xfrm>
            <a:off x="914400" y="4800600"/>
            <a:ext cx="274320" cy="274320"/>
          </a:xfrm>
          <a:prstGeom prst="rect">
            <a:avLst/>
          </a:prstGeom>
        </p:spPr>
      </p:pic>
      <p:sp>
        <p:nvSpPr>
          <p:cNvPr id="8" name="text-140"/>
          <p:cNvSpPr txBox="1"/>
          <p:nvPr/>
        </p:nvSpPr>
        <p:spPr>
          <a:xfrm>
            <a:off x="1508760" y="4663440"/>
            <a:ext cx="2423160" cy="548640"/>
          </a:xfrm>
          <a:prstGeom prst="rect">
            <a:avLst/>
          </a:prstGeom>
          <a:noFill/>
          <a:ln/>
        </p:spPr>
        <p:txBody>
          <a:bodyPr wrap="square" lIns="0" tIns="0" rIns="0" bIns="0" rtlCol="0" anchor="ctr"/>
          <a:lstStyle/>
          <a:p>
            <a:pPr indent="0" marL="0">
              <a:buNone/>
            </a:pPr>
            <a:r>
              <a:rPr lang="en-US" sz="1800" b="1" dirty="0">
                <a:solidFill>
                  <a:schemeClr val="tx2"/>
                </a:solidFill>
              </a:rPr>
              <a:t>Customer</a:t>
            </a:r>
            <a:endParaRPr lang="en-US" sz="1800" dirty="0"/>
          </a:p>
        </p:txBody>
      </p:sp>
      <p:sp>
        <p:nvSpPr>
          <p:cNvPr id="9" name="bullets-141"/>
          <p:cNvSpPr txBox="1"/>
          <p:nvPr/>
        </p:nvSpPr>
        <p:spPr>
          <a:xfrm>
            <a:off x="822960" y="5440680"/>
            <a:ext cx="3017520" cy="685800"/>
          </a:xfrm>
          <a:prstGeom prst="rect">
            <a:avLst/>
          </a:prstGeom>
          <a:noFill/>
          <a:ln/>
        </p:spPr>
        <p:txBody>
          <a:bodyPr wrap="square" lIns="0" tIns="0" rIns="0" bIns="0" rtlCol="0" anchor="t"/>
          <a:lstStyle/>
          <a:p>
            <a:pPr indent="0" marL="0">
              <a:buNone/>
            </a:pPr>
            <a:endParaRPr lang="en-US" sz="1400" dirty="0"/>
          </a:p>
        </p:txBody>
      </p:sp>
      <p:sp>
        <p:nvSpPr>
          <p:cNvPr id="10" name="text-142"/>
          <p:cNvSpPr txBox="1"/>
          <p:nvPr/>
        </p:nvSpPr>
        <p:spPr>
          <a:xfrm>
            <a:off x="822960" y="5257800"/>
            <a:ext cx="3017520" cy="1005840"/>
          </a:xfrm>
          <a:prstGeom prst="rect">
            <a:avLst/>
          </a:prstGeom>
          <a:noFill/>
          <a:ln/>
        </p:spPr>
        <p:txBody>
          <a:bodyPr wrap="square" lIns="0" tIns="0" rIns="0" bIns="0" rtlCol="0" anchor="t"/>
          <a:lstStyle/>
          <a:p>
            <a:pPr indent="0" marL="0">
              <a:buNone/>
            </a:pPr>
            <a:r>
              <a:rPr lang="en-US" sz="1400" dirty="0">
                <a:solidFill>
                  <a:schemeClr val="tx1"/>
                </a:solidFill>
              </a:rPr>
              <a:t>Browses the catalog, selects products, enters a delivery address and initiates payment.</a:t>
            </a:r>
            <a:endParaRPr lang="en-US" sz="1400" dirty="0"/>
          </a:p>
        </p:txBody>
      </p:sp>
      <p:sp>
        <p:nvSpPr>
          <p:cNvPr id="11" name="card-143"/>
          <p:cNvSpPr/>
          <p:nvPr/>
        </p:nvSpPr>
        <p:spPr>
          <a:xfrm>
            <a:off x="4311396" y="4434840"/>
            <a:ext cx="3566160" cy="1874520"/>
          </a:xfrm>
          <a:prstGeom prst="roundRect">
            <a:avLst>
              <a:gd name="adj" fmla="val 5854"/>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12" name="circle-144"/>
          <p:cNvSpPr/>
          <p:nvPr/>
        </p:nvSpPr>
        <p:spPr>
          <a:xfrm>
            <a:off x="4539996" y="4663440"/>
            <a:ext cx="548640" cy="548640"/>
          </a:xfrm>
          <a:prstGeom prst="ellipse">
            <a:avLst/>
          </a:prstGeom>
          <a:solidFill>
            <a:schemeClr val="accent1"/>
          </a:solidFill>
          <a:ln w="12700">
            <a:solidFill>
              <a:schemeClr val="accent1"/>
            </a:solidFill>
            <a:prstDash val="solid"/>
          </a:ln>
        </p:spPr>
      </p:sp>
      <p:pic>
        <p:nvPicPr>
          <p:cNvPr id="13" name="icon-145" descr="icon">    </p:cNvPr>
          <p:cNvPicPr>
            <a:picLocks noChangeAspect="1"/>
          </p:cNvPicPr>
          <p:nvPr/>
        </p:nvPicPr>
        <p:blipFill>
          <a:blip r:embed="rId3"/>
          <a:stretch>
            <a:fillRect/>
          </a:stretch>
        </p:blipFill>
        <p:spPr>
          <a:xfrm>
            <a:off x="4677156" y="4800600"/>
            <a:ext cx="274320" cy="274320"/>
          </a:xfrm>
          <a:prstGeom prst="rect">
            <a:avLst/>
          </a:prstGeom>
        </p:spPr>
      </p:pic>
      <p:sp>
        <p:nvSpPr>
          <p:cNvPr id="14" name="text-146"/>
          <p:cNvSpPr txBox="1"/>
          <p:nvPr/>
        </p:nvSpPr>
        <p:spPr>
          <a:xfrm>
            <a:off x="5271516" y="4663440"/>
            <a:ext cx="2423160" cy="548640"/>
          </a:xfrm>
          <a:prstGeom prst="rect">
            <a:avLst/>
          </a:prstGeom>
          <a:noFill/>
          <a:ln/>
        </p:spPr>
        <p:txBody>
          <a:bodyPr wrap="square" lIns="0" tIns="0" rIns="0" bIns="0" rtlCol="0" anchor="ctr"/>
          <a:lstStyle/>
          <a:p>
            <a:pPr indent="0" marL="0">
              <a:buNone/>
            </a:pPr>
            <a:r>
              <a:rPr lang="en-US" sz="1800" b="1" dirty="0">
                <a:solidFill>
                  <a:schemeClr val="tx2"/>
                </a:solidFill>
              </a:rPr>
              <a:t>Order system</a:t>
            </a:r>
            <a:endParaRPr lang="en-US" sz="1800" dirty="0"/>
          </a:p>
        </p:txBody>
      </p:sp>
      <p:sp>
        <p:nvSpPr>
          <p:cNvPr id="15" name="bullets-147"/>
          <p:cNvSpPr txBox="1"/>
          <p:nvPr/>
        </p:nvSpPr>
        <p:spPr>
          <a:xfrm>
            <a:off x="4585716" y="5440680"/>
            <a:ext cx="3017520" cy="685800"/>
          </a:xfrm>
          <a:prstGeom prst="rect">
            <a:avLst/>
          </a:prstGeom>
          <a:noFill/>
          <a:ln/>
        </p:spPr>
        <p:txBody>
          <a:bodyPr wrap="square" lIns="0" tIns="0" rIns="0" bIns="0" rtlCol="0" anchor="t"/>
          <a:lstStyle/>
          <a:p>
            <a:pPr indent="0" marL="0">
              <a:buNone/>
            </a:pPr>
            <a:endParaRPr lang="en-US" sz="1400" dirty="0"/>
          </a:p>
        </p:txBody>
      </p:sp>
      <p:sp>
        <p:nvSpPr>
          <p:cNvPr id="16" name="text-148"/>
          <p:cNvSpPr txBox="1"/>
          <p:nvPr/>
        </p:nvSpPr>
        <p:spPr>
          <a:xfrm>
            <a:off x="4585716" y="5257800"/>
            <a:ext cx="3017520" cy="1005840"/>
          </a:xfrm>
          <a:prstGeom prst="rect">
            <a:avLst/>
          </a:prstGeom>
          <a:noFill/>
          <a:ln/>
        </p:spPr>
        <p:txBody>
          <a:bodyPr wrap="square" lIns="0" tIns="0" rIns="0" bIns="0" rtlCol="0" anchor="t"/>
          <a:lstStyle/>
          <a:p>
            <a:pPr indent="0" marL="0">
              <a:buNone/>
            </a:pPr>
            <a:r>
              <a:rPr lang="en-US" sz="1400" dirty="0">
                <a:solidFill>
                  <a:schemeClr val="tx1"/>
                </a:solidFill>
              </a:rPr>
              <a:t>Checks local inventory and confirms stock, then picks and packs, or cancels and notifies the customer.</a:t>
            </a:r>
            <a:endParaRPr lang="en-US" sz="1400" dirty="0"/>
          </a:p>
        </p:txBody>
      </p:sp>
      <p:sp>
        <p:nvSpPr>
          <p:cNvPr id="17" name="card-149"/>
          <p:cNvSpPr/>
          <p:nvPr/>
        </p:nvSpPr>
        <p:spPr>
          <a:xfrm>
            <a:off x="8074152" y="4434840"/>
            <a:ext cx="3566160" cy="1874520"/>
          </a:xfrm>
          <a:prstGeom prst="roundRect">
            <a:avLst>
              <a:gd name="adj" fmla="val 5854"/>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sp>
        <p:nvSpPr>
          <p:cNvPr id="18" name="circle-150"/>
          <p:cNvSpPr/>
          <p:nvPr/>
        </p:nvSpPr>
        <p:spPr>
          <a:xfrm>
            <a:off x="8302752" y="4663440"/>
            <a:ext cx="548640" cy="548640"/>
          </a:xfrm>
          <a:prstGeom prst="ellipse">
            <a:avLst/>
          </a:prstGeom>
          <a:solidFill>
            <a:schemeClr val="accent1"/>
          </a:solidFill>
          <a:ln w="12700">
            <a:solidFill>
              <a:schemeClr val="accent1"/>
            </a:solidFill>
            <a:prstDash val="solid"/>
          </a:ln>
        </p:spPr>
      </p:sp>
      <p:pic>
        <p:nvPicPr>
          <p:cNvPr id="19" name="icon-151" descr="icon">    </p:cNvPr>
          <p:cNvPicPr>
            <a:picLocks noChangeAspect="1"/>
          </p:cNvPicPr>
          <p:nvPr/>
        </p:nvPicPr>
        <p:blipFill>
          <a:blip r:embed="rId4"/>
          <a:stretch>
            <a:fillRect/>
          </a:stretch>
        </p:blipFill>
        <p:spPr>
          <a:xfrm>
            <a:off x="8439912" y="4800600"/>
            <a:ext cx="274320" cy="274320"/>
          </a:xfrm>
          <a:prstGeom prst="rect">
            <a:avLst/>
          </a:prstGeom>
        </p:spPr>
      </p:pic>
      <p:sp>
        <p:nvSpPr>
          <p:cNvPr id="20" name="text-152"/>
          <p:cNvSpPr txBox="1"/>
          <p:nvPr/>
        </p:nvSpPr>
        <p:spPr>
          <a:xfrm>
            <a:off x="9034272" y="4663440"/>
            <a:ext cx="2423160" cy="548640"/>
          </a:xfrm>
          <a:prstGeom prst="rect">
            <a:avLst/>
          </a:prstGeom>
          <a:noFill/>
          <a:ln/>
        </p:spPr>
        <p:txBody>
          <a:bodyPr wrap="square" lIns="0" tIns="0" rIns="0" bIns="0" rtlCol="0" anchor="ctr"/>
          <a:lstStyle/>
          <a:p>
            <a:pPr indent="0" marL="0">
              <a:buNone/>
            </a:pPr>
            <a:r>
              <a:rPr lang="en-US" sz="1800" b="1" dirty="0">
                <a:solidFill>
                  <a:schemeClr val="tx2"/>
                </a:solidFill>
              </a:rPr>
              <a:t>Logistics and payments</a:t>
            </a:r>
            <a:endParaRPr lang="en-US" sz="1800" dirty="0"/>
          </a:p>
        </p:txBody>
      </p:sp>
      <p:sp>
        <p:nvSpPr>
          <p:cNvPr id="21" name="bullets-153"/>
          <p:cNvSpPr txBox="1"/>
          <p:nvPr/>
        </p:nvSpPr>
        <p:spPr>
          <a:xfrm>
            <a:off x="8348472" y="5440680"/>
            <a:ext cx="3017520" cy="685800"/>
          </a:xfrm>
          <a:prstGeom prst="rect">
            <a:avLst/>
          </a:prstGeom>
          <a:noFill/>
          <a:ln/>
        </p:spPr>
        <p:txBody>
          <a:bodyPr wrap="square" lIns="0" tIns="0" rIns="0" bIns="0" rtlCol="0" anchor="t"/>
          <a:lstStyle/>
          <a:p>
            <a:pPr indent="0" marL="0">
              <a:buNone/>
            </a:pPr>
            <a:endParaRPr lang="en-US" sz="1400" dirty="0"/>
          </a:p>
        </p:txBody>
      </p:sp>
      <p:sp>
        <p:nvSpPr>
          <p:cNvPr id="22" name="text-154"/>
          <p:cNvSpPr txBox="1"/>
          <p:nvPr/>
        </p:nvSpPr>
        <p:spPr>
          <a:xfrm>
            <a:off x="8348472" y="5257800"/>
            <a:ext cx="3017520" cy="1005840"/>
          </a:xfrm>
          <a:prstGeom prst="rect">
            <a:avLst/>
          </a:prstGeom>
          <a:noFill/>
          <a:ln/>
        </p:spPr>
        <p:txBody>
          <a:bodyPr wrap="square" lIns="0" tIns="0" rIns="0" bIns="0" rtlCol="0" anchor="t"/>
          <a:lstStyle/>
          <a:p>
            <a:pPr indent="0" marL="0">
              <a:buNone/>
            </a:pPr>
            <a:r>
              <a:rPr lang="en-US" sz="1400" dirty="0">
                <a:solidFill>
                  <a:schemeClr val="tx1"/>
                </a:solidFill>
              </a:rPr>
              <a:t>Local payment via Uzcard or Humo; a courier is assigned, dispatches and obtains delivery confirmation.</a:t>
            </a:r>
            <a:endParaRPr lang="en-US" sz="14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Work Breakdown Structure (WBS)</a:t>
            </a:r>
            <a:endParaRPr lang="en-US" sz="3400" dirty="0"/>
          </a:p>
        </p:txBody>
      </p:sp>
      <p:sp>
        <p:nvSpPr>
          <p:cNvPr id="3" name="card-155"/>
          <p:cNvSpPr/>
          <p:nvPr/>
        </p:nvSpPr>
        <p:spPr>
          <a:xfrm>
            <a:off x="548640" y="1371600"/>
            <a:ext cx="7040880" cy="4754880"/>
          </a:xfrm>
          <a:prstGeom prst="roundRect">
            <a:avLst>
              <a:gd name="adj" fmla="val 2308"/>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pic>
        <p:nvPicPr>
          <p:cNvPr id="4" name="diagram-156" descr="Work breakdown structure with six phases: planning, design, development, testing, deployment and documentation">    </p:cNvPr>
          <p:cNvPicPr>
            <a:picLocks noChangeAspect="1"/>
          </p:cNvPicPr>
          <p:nvPr/>
        </p:nvPicPr>
        <p:blipFill>
          <a:blip r:embed="rId1"/>
          <a:stretch>
            <a:fillRect/>
          </a:stretch>
        </p:blipFill>
        <p:spPr>
          <a:xfrm>
            <a:off x="640080" y="1463040"/>
            <a:ext cx="6858000" cy="4572000"/>
          </a:xfrm>
          <a:prstGeom prst="rect">
            <a:avLst/>
          </a:prstGeom>
        </p:spPr>
      </p:pic>
      <p:sp>
        <p:nvSpPr>
          <p:cNvPr id="5" name="card-157"/>
          <p:cNvSpPr/>
          <p:nvPr/>
        </p:nvSpPr>
        <p:spPr>
          <a:xfrm>
            <a:off x="7863840" y="1371600"/>
            <a:ext cx="3776472" cy="4937760"/>
          </a:xfrm>
          <a:prstGeom prst="roundRect">
            <a:avLst>
              <a:gd name="adj" fmla="val 2906"/>
            </a:avLst>
          </a:prstGeom>
          <a:solidFill>
            <a:schemeClr val="bg2"/>
          </a:solidFill>
          <a:ln w="12700">
            <a:solidFill>
              <a:schemeClr val="bg2"/>
            </a:solidFill>
            <a:prstDash val="solid"/>
          </a:ln>
        </p:spPr>
      </p:sp>
      <p:sp>
        <p:nvSpPr>
          <p:cNvPr id="6" name="text-158"/>
          <p:cNvSpPr txBox="1"/>
          <p:nvPr/>
        </p:nvSpPr>
        <p:spPr>
          <a:xfrm>
            <a:off x="8138160" y="1508760"/>
            <a:ext cx="731520" cy="82296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6</a:t>
            </a:r>
            <a:endParaRPr lang="en-US" sz="5400" dirty="0"/>
          </a:p>
        </p:txBody>
      </p:sp>
      <p:sp>
        <p:nvSpPr>
          <p:cNvPr id="7" name="text-159"/>
          <p:cNvSpPr txBox="1"/>
          <p:nvPr/>
        </p:nvSpPr>
        <p:spPr>
          <a:xfrm>
            <a:off x="8869680" y="1508760"/>
            <a:ext cx="1097280" cy="822960"/>
          </a:xfrm>
          <a:prstGeom prst="rect">
            <a:avLst/>
          </a:prstGeom>
          <a:noFill/>
          <a:ln/>
        </p:spPr>
        <p:txBody>
          <a:bodyPr wrap="square" lIns="0" tIns="0" rIns="0" bIns="0" rtlCol="0" anchor="ctr"/>
          <a:lstStyle/>
          <a:p>
            <a:pPr indent="0" marL="0">
              <a:buNone/>
            </a:pPr>
            <a:r>
              <a:rPr lang="en-US" sz="1400" dirty="0">
                <a:solidFill>
                  <a:schemeClr val="tx1"/>
                </a:solidFill>
              </a:rPr>
              <a:t>phases</a:t>
            </a:r>
            <a:endParaRPr lang="en-US" sz="1400" dirty="0"/>
          </a:p>
        </p:txBody>
      </p:sp>
      <p:sp>
        <p:nvSpPr>
          <p:cNvPr id="8" name="text-160"/>
          <p:cNvSpPr txBox="1"/>
          <p:nvPr/>
        </p:nvSpPr>
        <p:spPr>
          <a:xfrm>
            <a:off x="9784080" y="1508760"/>
            <a:ext cx="868680" cy="82296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21</a:t>
            </a:r>
            <a:endParaRPr lang="en-US" sz="5400" dirty="0"/>
          </a:p>
        </p:txBody>
      </p:sp>
      <p:sp>
        <p:nvSpPr>
          <p:cNvPr id="9" name="text-161"/>
          <p:cNvSpPr txBox="1"/>
          <p:nvPr/>
        </p:nvSpPr>
        <p:spPr>
          <a:xfrm>
            <a:off x="10652760" y="1508760"/>
            <a:ext cx="914400" cy="822960"/>
          </a:xfrm>
          <a:prstGeom prst="rect">
            <a:avLst/>
          </a:prstGeom>
          <a:noFill/>
          <a:ln/>
        </p:spPr>
        <p:txBody>
          <a:bodyPr wrap="square" lIns="0" tIns="0" rIns="0" bIns="0" rtlCol="0" anchor="ctr"/>
          <a:lstStyle/>
          <a:p>
            <a:pPr indent="0" marL="0">
              <a:buNone/>
            </a:pPr>
            <a:r>
              <a:rPr lang="en-US" sz="1400" dirty="0">
                <a:solidFill>
                  <a:schemeClr val="tx1"/>
                </a:solidFill>
              </a:rPr>
              <a:t>work packages</a:t>
            </a:r>
            <a:endParaRPr lang="en-US" sz="1400" dirty="0"/>
          </a:p>
        </p:txBody>
      </p:sp>
      <p:sp>
        <p:nvSpPr>
          <p:cNvPr id="10" name="text-162"/>
          <p:cNvSpPr txBox="1"/>
          <p:nvPr/>
        </p:nvSpPr>
        <p:spPr>
          <a:xfrm>
            <a:off x="8138160" y="2560320"/>
            <a:ext cx="2651760" cy="365760"/>
          </a:xfrm>
          <a:prstGeom prst="rect">
            <a:avLst/>
          </a:prstGeom>
          <a:noFill/>
          <a:ln/>
        </p:spPr>
        <p:txBody>
          <a:bodyPr wrap="square" lIns="0" tIns="0" rIns="0" bIns="0" rtlCol="0" anchor="ctr"/>
          <a:lstStyle/>
          <a:p>
            <a:pPr indent="0" marL="0">
              <a:buNone/>
            </a:pPr>
            <a:r>
              <a:rPr lang="en-US" sz="1600" dirty="0">
                <a:solidFill>
                  <a:schemeClr val="tx1"/>
                </a:solidFill>
              </a:rPr>
              <a:t>1  Planning</a:t>
            </a:r>
            <a:endParaRPr lang="en-US" sz="1600" dirty="0"/>
          </a:p>
        </p:txBody>
      </p:sp>
      <p:sp>
        <p:nvSpPr>
          <p:cNvPr id="11" name="text-163"/>
          <p:cNvSpPr txBox="1"/>
          <p:nvPr/>
        </p:nvSpPr>
        <p:spPr>
          <a:xfrm>
            <a:off x="10881360" y="2560320"/>
            <a:ext cx="685800" cy="365760"/>
          </a:xfrm>
          <a:prstGeom prst="rect">
            <a:avLst/>
          </a:prstGeom>
          <a:noFill/>
          <a:ln/>
        </p:spPr>
        <p:txBody>
          <a:bodyPr wrap="square" lIns="0" tIns="0" rIns="0" bIns="0" rtlCol="0" anchor="ctr"/>
          <a:lstStyle/>
          <a:p>
            <a:pPr algn="r" indent="0" marL="0">
              <a:buNone/>
            </a:pPr>
            <a:r>
              <a:rPr lang="en-US" sz="1600" b="1" dirty="0">
                <a:solidFill>
                  <a:schemeClr val="accent1"/>
                </a:solidFill>
              </a:rPr>
              <a:t>3</a:t>
            </a:r>
            <a:endParaRPr lang="en-US" sz="1600" dirty="0"/>
          </a:p>
        </p:txBody>
      </p:sp>
      <p:sp>
        <p:nvSpPr>
          <p:cNvPr id="12" name="text-164"/>
          <p:cNvSpPr txBox="1"/>
          <p:nvPr/>
        </p:nvSpPr>
        <p:spPr>
          <a:xfrm>
            <a:off x="8138160" y="3017520"/>
            <a:ext cx="2651760" cy="365760"/>
          </a:xfrm>
          <a:prstGeom prst="rect">
            <a:avLst/>
          </a:prstGeom>
          <a:noFill/>
          <a:ln/>
        </p:spPr>
        <p:txBody>
          <a:bodyPr wrap="square" lIns="0" tIns="0" rIns="0" bIns="0" rtlCol="0" anchor="ctr"/>
          <a:lstStyle/>
          <a:p>
            <a:pPr indent="0" marL="0">
              <a:buNone/>
            </a:pPr>
            <a:r>
              <a:rPr lang="en-US" sz="1600" dirty="0">
                <a:solidFill>
                  <a:schemeClr val="tx1"/>
                </a:solidFill>
              </a:rPr>
              <a:t>2  Design</a:t>
            </a:r>
            <a:endParaRPr lang="en-US" sz="1600" dirty="0"/>
          </a:p>
        </p:txBody>
      </p:sp>
      <p:sp>
        <p:nvSpPr>
          <p:cNvPr id="13" name="text-165"/>
          <p:cNvSpPr txBox="1"/>
          <p:nvPr/>
        </p:nvSpPr>
        <p:spPr>
          <a:xfrm>
            <a:off x="10881360" y="3017520"/>
            <a:ext cx="685800" cy="365760"/>
          </a:xfrm>
          <a:prstGeom prst="rect">
            <a:avLst/>
          </a:prstGeom>
          <a:noFill/>
          <a:ln/>
        </p:spPr>
        <p:txBody>
          <a:bodyPr wrap="square" lIns="0" tIns="0" rIns="0" bIns="0" rtlCol="0" anchor="ctr"/>
          <a:lstStyle/>
          <a:p>
            <a:pPr algn="r" indent="0" marL="0">
              <a:buNone/>
            </a:pPr>
            <a:r>
              <a:rPr lang="en-US" sz="1600" b="1" dirty="0">
                <a:solidFill>
                  <a:schemeClr val="accent1"/>
                </a:solidFill>
              </a:rPr>
              <a:t>3</a:t>
            </a:r>
            <a:endParaRPr lang="en-US" sz="1600" dirty="0"/>
          </a:p>
        </p:txBody>
      </p:sp>
      <p:sp>
        <p:nvSpPr>
          <p:cNvPr id="14" name="text-166"/>
          <p:cNvSpPr txBox="1"/>
          <p:nvPr/>
        </p:nvSpPr>
        <p:spPr>
          <a:xfrm>
            <a:off x="8138160" y="3474720"/>
            <a:ext cx="2651760" cy="365760"/>
          </a:xfrm>
          <a:prstGeom prst="rect">
            <a:avLst/>
          </a:prstGeom>
          <a:noFill/>
          <a:ln/>
        </p:spPr>
        <p:txBody>
          <a:bodyPr wrap="square" lIns="0" tIns="0" rIns="0" bIns="0" rtlCol="0" anchor="ctr"/>
          <a:lstStyle/>
          <a:p>
            <a:pPr indent="0" marL="0">
              <a:buNone/>
            </a:pPr>
            <a:r>
              <a:rPr lang="en-US" sz="1600" b="1" dirty="0">
                <a:solidFill>
                  <a:schemeClr val="tx1"/>
                </a:solidFill>
              </a:rPr>
              <a:t>3  Development</a:t>
            </a:r>
            <a:endParaRPr lang="en-US" sz="1600" dirty="0"/>
          </a:p>
        </p:txBody>
      </p:sp>
      <p:sp>
        <p:nvSpPr>
          <p:cNvPr id="15" name="text-167"/>
          <p:cNvSpPr txBox="1"/>
          <p:nvPr/>
        </p:nvSpPr>
        <p:spPr>
          <a:xfrm>
            <a:off x="10881360" y="3474720"/>
            <a:ext cx="685800" cy="365760"/>
          </a:xfrm>
          <a:prstGeom prst="rect">
            <a:avLst/>
          </a:prstGeom>
          <a:noFill/>
          <a:ln/>
        </p:spPr>
        <p:txBody>
          <a:bodyPr wrap="square" lIns="0" tIns="0" rIns="0" bIns="0" rtlCol="0" anchor="ctr"/>
          <a:lstStyle/>
          <a:p>
            <a:pPr algn="r" indent="0" marL="0">
              <a:buNone/>
            </a:pPr>
            <a:r>
              <a:rPr lang="en-US" sz="1600" b="1" dirty="0">
                <a:solidFill>
                  <a:schemeClr val="accent1"/>
                </a:solidFill>
              </a:rPr>
              <a:t>6</a:t>
            </a:r>
            <a:endParaRPr lang="en-US" sz="1600" dirty="0"/>
          </a:p>
        </p:txBody>
      </p:sp>
      <p:sp>
        <p:nvSpPr>
          <p:cNvPr id="16" name="text-168"/>
          <p:cNvSpPr txBox="1"/>
          <p:nvPr/>
        </p:nvSpPr>
        <p:spPr>
          <a:xfrm>
            <a:off x="8138160" y="3931920"/>
            <a:ext cx="2651760" cy="365760"/>
          </a:xfrm>
          <a:prstGeom prst="rect">
            <a:avLst/>
          </a:prstGeom>
          <a:noFill/>
          <a:ln/>
        </p:spPr>
        <p:txBody>
          <a:bodyPr wrap="square" lIns="0" tIns="0" rIns="0" bIns="0" rtlCol="0" anchor="ctr"/>
          <a:lstStyle/>
          <a:p>
            <a:pPr indent="0" marL="0">
              <a:buNone/>
            </a:pPr>
            <a:r>
              <a:rPr lang="en-US" sz="1600" dirty="0">
                <a:solidFill>
                  <a:schemeClr val="tx1"/>
                </a:solidFill>
              </a:rPr>
              <a:t>4  Testing</a:t>
            </a:r>
            <a:endParaRPr lang="en-US" sz="1600" dirty="0"/>
          </a:p>
        </p:txBody>
      </p:sp>
      <p:sp>
        <p:nvSpPr>
          <p:cNvPr id="17" name="text-169"/>
          <p:cNvSpPr txBox="1"/>
          <p:nvPr/>
        </p:nvSpPr>
        <p:spPr>
          <a:xfrm>
            <a:off x="10881360" y="3931920"/>
            <a:ext cx="685800" cy="365760"/>
          </a:xfrm>
          <a:prstGeom prst="rect">
            <a:avLst/>
          </a:prstGeom>
          <a:noFill/>
          <a:ln/>
        </p:spPr>
        <p:txBody>
          <a:bodyPr wrap="square" lIns="0" tIns="0" rIns="0" bIns="0" rtlCol="0" anchor="ctr"/>
          <a:lstStyle/>
          <a:p>
            <a:pPr algn="r" indent="0" marL="0">
              <a:buNone/>
            </a:pPr>
            <a:r>
              <a:rPr lang="en-US" sz="1600" b="1" dirty="0">
                <a:solidFill>
                  <a:schemeClr val="accent1"/>
                </a:solidFill>
              </a:rPr>
              <a:t>3</a:t>
            </a:r>
            <a:endParaRPr lang="en-US" sz="1600" dirty="0"/>
          </a:p>
        </p:txBody>
      </p:sp>
      <p:sp>
        <p:nvSpPr>
          <p:cNvPr id="18" name="text-170"/>
          <p:cNvSpPr txBox="1"/>
          <p:nvPr/>
        </p:nvSpPr>
        <p:spPr>
          <a:xfrm>
            <a:off x="8138160" y="4389120"/>
            <a:ext cx="2651760" cy="365760"/>
          </a:xfrm>
          <a:prstGeom prst="rect">
            <a:avLst/>
          </a:prstGeom>
          <a:noFill/>
          <a:ln/>
        </p:spPr>
        <p:txBody>
          <a:bodyPr wrap="square" lIns="0" tIns="0" rIns="0" bIns="0" rtlCol="0" anchor="ctr"/>
          <a:lstStyle/>
          <a:p>
            <a:pPr indent="0" marL="0">
              <a:buNone/>
            </a:pPr>
            <a:r>
              <a:rPr lang="en-US" sz="1600" dirty="0">
                <a:solidFill>
                  <a:schemeClr val="tx1"/>
                </a:solidFill>
              </a:rPr>
              <a:t>5  Deployment</a:t>
            </a:r>
            <a:endParaRPr lang="en-US" sz="1600" dirty="0"/>
          </a:p>
        </p:txBody>
      </p:sp>
      <p:sp>
        <p:nvSpPr>
          <p:cNvPr id="19" name="text-171"/>
          <p:cNvSpPr txBox="1"/>
          <p:nvPr/>
        </p:nvSpPr>
        <p:spPr>
          <a:xfrm>
            <a:off x="10881360" y="4389120"/>
            <a:ext cx="685800" cy="365760"/>
          </a:xfrm>
          <a:prstGeom prst="rect">
            <a:avLst/>
          </a:prstGeom>
          <a:noFill/>
          <a:ln/>
        </p:spPr>
        <p:txBody>
          <a:bodyPr wrap="square" lIns="0" tIns="0" rIns="0" bIns="0" rtlCol="0" anchor="ctr"/>
          <a:lstStyle/>
          <a:p>
            <a:pPr algn="r" indent="0" marL="0">
              <a:buNone/>
            </a:pPr>
            <a:r>
              <a:rPr lang="en-US" sz="1600" b="1" dirty="0">
                <a:solidFill>
                  <a:schemeClr val="accent1"/>
                </a:solidFill>
              </a:rPr>
              <a:t>3</a:t>
            </a:r>
            <a:endParaRPr lang="en-US" sz="1600" dirty="0"/>
          </a:p>
        </p:txBody>
      </p:sp>
      <p:sp>
        <p:nvSpPr>
          <p:cNvPr id="20" name="text-172"/>
          <p:cNvSpPr txBox="1"/>
          <p:nvPr/>
        </p:nvSpPr>
        <p:spPr>
          <a:xfrm>
            <a:off x="8138160" y="4846320"/>
            <a:ext cx="2651760" cy="365760"/>
          </a:xfrm>
          <a:prstGeom prst="rect">
            <a:avLst/>
          </a:prstGeom>
          <a:noFill/>
          <a:ln/>
        </p:spPr>
        <p:txBody>
          <a:bodyPr wrap="square" lIns="0" tIns="0" rIns="0" bIns="0" rtlCol="0" anchor="ctr"/>
          <a:lstStyle/>
          <a:p>
            <a:pPr indent="0" marL="0">
              <a:buNone/>
            </a:pPr>
            <a:r>
              <a:rPr lang="en-US" sz="1600" dirty="0">
                <a:solidFill>
                  <a:schemeClr val="tx1"/>
                </a:solidFill>
              </a:rPr>
              <a:t>6  Documentation</a:t>
            </a:r>
            <a:endParaRPr lang="en-US" sz="1600" dirty="0"/>
          </a:p>
        </p:txBody>
      </p:sp>
      <p:sp>
        <p:nvSpPr>
          <p:cNvPr id="21" name="text-173"/>
          <p:cNvSpPr txBox="1"/>
          <p:nvPr/>
        </p:nvSpPr>
        <p:spPr>
          <a:xfrm>
            <a:off x="10881360" y="4846320"/>
            <a:ext cx="685800" cy="365760"/>
          </a:xfrm>
          <a:prstGeom prst="rect">
            <a:avLst/>
          </a:prstGeom>
          <a:noFill/>
          <a:ln/>
        </p:spPr>
        <p:txBody>
          <a:bodyPr wrap="square" lIns="0" tIns="0" rIns="0" bIns="0" rtlCol="0" anchor="ctr"/>
          <a:lstStyle/>
          <a:p>
            <a:pPr algn="r" indent="0" marL="0">
              <a:buNone/>
            </a:pPr>
            <a:r>
              <a:rPr lang="en-US" sz="1600" b="1" dirty="0">
                <a:solidFill>
                  <a:schemeClr val="accent1"/>
                </a:solidFill>
              </a:rPr>
              <a:t>3</a:t>
            </a:r>
            <a:endParaRPr lang="en-US" sz="1600" dirty="0"/>
          </a:p>
        </p:txBody>
      </p:sp>
      <p:sp>
        <p:nvSpPr>
          <p:cNvPr id="22" name="text-174"/>
          <p:cNvSpPr txBox="1"/>
          <p:nvPr/>
        </p:nvSpPr>
        <p:spPr>
          <a:xfrm>
            <a:off x="8138160" y="5440680"/>
            <a:ext cx="3429000" cy="731520"/>
          </a:xfrm>
          <a:prstGeom prst="rect">
            <a:avLst/>
          </a:prstGeom>
          <a:noFill/>
          <a:ln/>
        </p:spPr>
        <p:txBody>
          <a:bodyPr wrap="square" lIns="0" tIns="0" rIns="0" bIns="0" rtlCol="0" anchor="t"/>
          <a:lstStyle/>
          <a:p>
            <a:pPr indent="0" marL="0">
              <a:buNone/>
            </a:pPr>
            <a:r>
              <a:rPr lang="en-US" sz="1400" i="1" dirty="0">
                <a:solidFill>
                  <a:schemeClr val="accent6"/>
                </a:solidFill>
              </a:rPr>
              <a:t>Development is the largest phase: frontend, backend, database, catalog, cart and user accounts.</a:t>
            </a:r>
            <a:endParaRPr lang="en-US" sz="14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tx2"/>
                </a:solidFill>
              </a:rPr>
              <a:t>Gantt Chart: 10-Week Schedule</a:t>
            </a:r>
            <a:endParaRPr lang="en-US" sz="3400" dirty="0"/>
          </a:p>
        </p:txBody>
      </p:sp>
      <p:sp>
        <p:nvSpPr>
          <p:cNvPr id="3" name="card-175"/>
          <p:cNvSpPr/>
          <p:nvPr/>
        </p:nvSpPr>
        <p:spPr>
          <a:xfrm>
            <a:off x="548640" y="1371600"/>
            <a:ext cx="7863840" cy="4700016"/>
          </a:xfrm>
          <a:prstGeom prst="roundRect">
            <a:avLst>
              <a:gd name="adj" fmla="val 2335"/>
            </a:avLst>
          </a:prstGeom>
          <a:solidFill>
            <a:schemeClr val="bg1"/>
          </a:solidFill>
          <a:ln w="9525">
            <a:solidFill>
              <a:srgbClr val="E4B7C2"/>
            </a:solidFill>
            <a:prstDash val="solid"/>
          </a:ln>
          <a:effectLst>
            <a:outerShdw sx="100000" sy="100000" kx="0" ky="0" algn="bl" rotWithShape="0" blurRad="101600" dist="25400" dir="5400000">
              <a:srgbClr val="000000">
                <a:alpha val="12000"/>
              </a:srgbClr>
            </a:outerShdw>
          </a:effectLst>
        </p:spPr>
      </p:sp>
      <p:pic>
        <p:nvPicPr>
          <p:cNvPr id="4" name="diagram-176" descr="Weekly Gantt chart for the Zetmart_uz website project showing tasks, owners, durations and predecessors">    </p:cNvPr>
          <p:cNvPicPr>
            <a:picLocks noChangeAspect="1"/>
          </p:cNvPicPr>
          <p:nvPr/>
        </p:nvPicPr>
        <p:blipFill>
          <a:blip r:embed="rId1"/>
          <a:stretch>
            <a:fillRect/>
          </a:stretch>
        </p:blipFill>
        <p:spPr>
          <a:xfrm>
            <a:off x="640080" y="1463040"/>
            <a:ext cx="7680960" cy="4517136"/>
          </a:xfrm>
          <a:prstGeom prst="rect">
            <a:avLst/>
          </a:prstGeom>
        </p:spPr>
      </p:pic>
      <p:sp>
        <p:nvSpPr>
          <p:cNvPr id="5" name="card-177"/>
          <p:cNvSpPr/>
          <p:nvPr/>
        </p:nvSpPr>
        <p:spPr>
          <a:xfrm>
            <a:off x="8686800" y="1371600"/>
            <a:ext cx="2953512" cy="4700016"/>
          </a:xfrm>
          <a:prstGeom prst="roundRect">
            <a:avLst>
              <a:gd name="adj" fmla="val 3715"/>
            </a:avLst>
          </a:prstGeom>
          <a:solidFill>
            <a:schemeClr val="bg2"/>
          </a:solidFill>
          <a:ln w="12700">
            <a:solidFill>
              <a:schemeClr val="bg2"/>
            </a:solidFill>
            <a:prstDash val="solid"/>
          </a:ln>
        </p:spPr>
      </p:sp>
      <p:sp>
        <p:nvSpPr>
          <p:cNvPr id="6" name="text-178"/>
          <p:cNvSpPr txBox="1"/>
          <p:nvPr/>
        </p:nvSpPr>
        <p:spPr>
          <a:xfrm>
            <a:off x="8961120" y="1508760"/>
            <a:ext cx="1005840" cy="82296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10</a:t>
            </a:r>
            <a:endParaRPr lang="en-US" sz="5400" dirty="0"/>
          </a:p>
        </p:txBody>
      </p:sp>
      <p:sp>
        <p:nvSpPr>
          <p:cNvPr id="7" name="text-179"/>
          <p:cNvSpPr txBox="1"/>
          <p:nvPr/>
        </p:nvSpPr>
        <p:spPr>
          <a:xfrm>
            <a:off x="9966960" y="1508760"/>
            <a:ext cx="1554480" cy="822960"/>
          </a:xfrm>
          <a:prstGeom prst="rect">
            <a:avLst/>
          </a:prstGeom>
          <a:noFill/>
          <a:ln/>
        </p:spPr>
        <p:txBody>
          <a:bodyPr wrap="square" lIns="0" tIns="0" rIns="0" bIns="0" rtlCol="0" anchor="ctr"/>
          <a:lstStyle/>
          <a:p>
            <a:pPr indent="0" marL="0">
              <a:buNone/>
            </a:pPr>
            <a:r>
              <a:rPr lang="en-US" sz="1400" dirty="0">
                <a:solidFill>
                  <a:schemeClr val="tx1"/>
                </a:solidFill>
              </a:rPr>
              <a:t>weeks from kickoff to launch</a:t>
            </a:r>
            <a:endParaRPr lang="en-US" sz="1400" dirty="0"/>
          </a:p>
        </p:txBody>
      </p:sp>
      <p:sp>
        <p:nvSpPr>
          <p:cNvPr id="8" name="bullets-180"/>
          <p:cNvSpPr txBox="1"/>
          <p:nvPr/>
        </p:nvSpPr>
        <p:spPr>
          <a:xfrm>
            <a:off x="8961120" y="2606040"/>
            <a:ext cx="2468880" cy="329184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chemeClr val="tx1"/>
                </a:solidFill>
              </a:rPr>
              <a:t>Planning: weeks 1–2</a:t>
            </a:r>
            <a:endParaRPr lang="en-US" sz="1400" dirty="0"/>
          </a:p>
          <a:p>
            <a:pPr marL="177800" indent="-177800">
              <a:spcAft>
                <a:spcPts val="500"/>
              </a:spcAft>
              <a:buSzPct val="100000"/>
              <a:buChar char="•"/>
            </a:pPr>
            <a:r>
              <a:rPr lang="en-US" sz="1400" dirty="0">
                <a:solidFill>
                  <a:schemeClr val="tx1"/>
                </a:solidFill>
              </a:rPr>
              <a:t>Design: weeks 3–4</a:t>
            </a:r>
            <a:endParaRPr lang="en-US" sz="1400" dirty="0"/>
          </a:p>
          <a:p>
            <a:pPr marL="177800" indent="-177800">
              <a:spcAft>
                <a:spcPts val="500"/>
              </a:spcAft>
              <a:buSzPct val="100000"/>
              <a:buChar char="•"/>
            </a:pPr>
            <a:r>
              <a:rPr lang="en-US" sz="1400" dirty="0">
                <a:solidFill>
                  <a:schemeClr val="tx1"/>
                </a:solidFill>
              </a:rPr>
              <a:t>Development: weeks 5–8</a:t>
            </a:r>
            <a:endParaRPr lang="en-US" sz="1400" dirty="0"/>
          </a:p>
          <a:p>
            <a:pPr marL="177800" indent="-177800">
              <a:spcAft>
                <a:spcPts val="500"/>
              </a:spcAft>
              <a:buSzPct val="100000"/>
              <a:buChar char="•"/>
            </a:pPr>
            <a:r>
              <a:rPr lang="en-US" sz="1400" dirty="0">
                <a:solidFill>
                  <a:schemeClr val="tx1"/>
                </a:solidFill>
              </a:rPr>
              <a:t>Testing: weeks 8–9</a:t>
            </a:r>
            <a:endParaRPr lang="en-US" sz="1400" dirty="0"/>
          </a:p>
          <a:p>
            <a:pPr marL="177800" indent="-177800">
              <a:spcAft>
                <a:spcPts val="500"/>
              </a:spcAft>
              <a:buSzPct val="100000"/>
              <a:buChar char="•"/>
            </a:pPr>
            <a:r>
              <a:rPr lang="en-US" sz="1400" dirty="0">
                <a:solidFill>
                  <a:schemeClr val="tx1"/>
                </a:solidFill>
              </a:rPr>
              <a:t>Documentation: weeks 9–10, alongside testing</a:t>
            </a:r>
            <a:endParaRPr lang="en-US" sz="1400" dirty="0"/>
          </a:p>
          <a:p>
            <a:pPr marL="177800" indent="-177800">
              <a:spcAft>
                <a:spcPts val="500"/>
              </a:spcAft>
              <a:buSzPct val="100000"/>
              <a:buChar char="•"/>
            </a:pPr>
            <a:r>
              <a:rPr lang="en-US" sz="1400" dirty="0">
                <a:solidFill>
                  <a:schemeClr val="tx1"/>
                </a:solidFill>
              </a:rPr>
              <a:t>Deployment and final launch: week 10</a:t>
            </a:r>
            <a:endParaRPr lang="en-US" sz="1400" dirty="0"/>
          </a:p>
        </p:txBody>
      </p:sp>
      <p:sp>
        <p:nvSpPr>
          <p:cNvPr id="9" name="text-181"/>
          <p:cNvSpPr txBox="1"/>
          <p:nvPr/>
        </p:nvSpPr>
        <p:spPr>
          <a:xfrm>
            <a:off x="548640" y="6144768"/>
            <a:ext cx="7863840" cy="274320"/>
          </a:xfrm>
          <a:prstGeom prst="rect">
            <a:avLst/>
          </a:prstGeom>
          <a:noFill/>
          <a:ln/>
        </p:spPr>
        <p:txBody>
          <a:bodyPr wrap="square" lIns="0" tIns="0" rIns="0" bIns="0" rtlCol="0" anchor="t"/>
          <a:lstStyle/>
          <a:p>
            <a:pPr indent="0" marL="0">
              <a:buNone/>
            </a:pPr>
            <a:r>
              <a:rPr lang="en-US" sz="1200" i="1" dirty="0">
                <a:solidFill>
                  <a:schemeClr val="accent6"/>
                </a:solidFill>
              </a:rPr>
              <a:t>Tasks follow the WBS numbering, with predecessors shown for each work package.</a:t>
            </a:r>
            <a:endParaRPr lang="en-US" sz="1200" dirty="0"/>
          </a:p>
        </p:txBody>
      </p:sp>
      <p:sp>
        <p:nvSpPr>
          <p:cNvPr id="25" name="Slide Number Placeholder 0"/>
          <p:cNvSpPr>
            <a:spLocks noGrp="1"/>
          </p:cNvSpPr>
          <p:nvPr>
            <p:ph type="sldNum" sz="quarter" idx="4294967295"/>
          </p:nvPr>
        </p:nvSpPr>
        <p:spPr>
          <a:xfrm>
            <a:off x="11064240" y="644652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Summary and Next Steps</a:t>
            </a:r>
            <a:endParaRPr lang="en-US" sz="3400" dirty="0"/>
          </a:p>
        </p:txBody>
      </p:sp>
      <p:sp>
        <p:nvSpPr>
          <p:cNvPr id="3" name="text-182"/>
          <p:cNvSpPr txBox="1"/>
          <p:nvPr/>
        </p:nvSpPr>
        <p:spPr>
          <a:xfrm>
            <a:off x="548640" y="1463040"/>
            <a:ext cx="4572000" cy="365760"/>
          </a:xfrm>
          <a:prstGeom prst="rect">
            <a:avLst/>
          </a:prstGeom>
          <a:noFill/>
          <a:ln/>
        </p:spPr>
        <p:txBody>
          <a:bodyPr wrap="square" lIns="0" tIns="0" rIns="0" bIns="0" rtlCol="0" anchor="ctr"/>
          <a:lstStyle/>
          <a:p>
            <a:pPr indent="0" marL="0">
              <a:buNone/>
            </a:pPr>
            <a:r>
              <a:rPr lang="en-US" sz="2000" b="1" dirty="0">
                <a:solidFill>
                  <a:schemeClr val="accent2"/>
                </a:solidFill>
              </a:rPr>
              <a:t>Delivered</a:t>
            </a:r>
            <a:endParaRPr lang="en-US" sz="2000" dirty="0"/>
          </a:p>
        </p:txBody>
      </p:sp>
      <p:sp>
        <p:nvSpPr>
          <p:cNvPr id="4" name="circle-183"/>
          <p:cNvSpPr/>
          <p:nvPr/>
        </p:nvSpPr>
        <p:spPr>
          <a:xfrm>
            <a:off x="548640" y="2011680"/>
            <a:ext cx="411480" cy="411480"/>
          </a:xfrm>
          <a:prstGeom prst="ellipse">
            <a:avLst/>
          </a:prstGeom>
          <a:solidFill>
            <a:schemeClr val="accent2"/>
          </a:solidFill>
          <a:ln w="12700">
            <a:solidFill>
              <a:schemeClr val="accent2"/>
            </a:solidFill>
            <a:prstDash val="solid"/>
          </a:ln>
        </p:spPr>
      </p:sp>
      <p:pic>
        <p:nvPicPr>
          <p:cNvPr id="5" name="icon-184" descr="icon">    </p:cNvPr>
          <p:cNvPicPr>
            <a:picLocks noChangeAspect="1"/>
          </p:cNvPicPr>
          <p:nvPr/>
        </p:nvPicPr>
        <p:blipFill>
          <a:blip r:embed="rId1"/>
          <a:stretch>
            <a:fillRect/>
          </a:stretch>
        </p:blipFill>
        <p:spPr>
          <a:xfrm>
            <a:off x="651510" y="2114550"/>
            <a:ext cx="205740" cy="205740"/>
          </a:xfrm>
          <a:prstGeom prst="rect">
            <a:avLst/>
          </a:prstGeom>
        </p:spPr>
      </p:pic>
      <p:sp>
        <p:nvSpPr>
          <p:cNvPr id="6" name="text-185"/>
          <p:cNvSpPr txBox="1"/>
          <p:nvPr/>
        </p:nvSpPr>
        <p:spPr>
          <a:xfrm>
            <a:off x="1143000" y="2011680"/>
            <a:ext cx="4389120" cy="411480"/>
          </a:xfrm>
          <a:prstGeom prst="rect">
            <a:avLst/>
          </a:prstGeom>
          <a:noFill/>
          <a:ln/>
        </p:spPr>
        <p:txBody>
          <a:bodyPr wrap="square" lIns="0" tIns="0" rIns="0" bIns="0" rtlCol="0" anchor="ctr"/>
          <a:lstStyle/>
          <a:p>
            <a:pPr indent="0" marL="0">
              <a:buNone/>
            </a:pPr>
            <a:r>
              <a:rPr lang="en-US" sz="1800" dirty="0">
                <a:solidFill>
                  <a:schemeClr val="bg1"/>
                </a:solidFill>
              </a:rPr>
              <a:t>Project Plan</a:t>
            </a:r>
            <a:endParaRPr lang="en-US" sz="1800" dirty="0"/>
          </a:p>
        </p:txBody>
      </p:sp>
      <p:sp>
        <p:nvSpPr>
          <p:cNvPr id="7" name="circle-186"/>
          <p:cNvSpPr/>
          <p:nvPr/>
        </p:nvSpPr>
        <p:spPr>
          <a:xfrm>
            <a:off x="548640" y="2578608"/>
            <a:ext cx="411480" cy="411480"/>
          </a:xfrm>
          <a:prstGeom prst="ellipse">
            <a:avLst/>
          </a:prstGeom>
          <a:solidFill>
            <a:schemeClr val="accent2"/>
          </a:solidFill>
          <a:ln w="12700">
            <a:solidFill>
              <a:schemeClr val="accent2"/>
            </a:solidFill>
            <a:prstDash val="solid"/>
          </a:ln>
        </p:spPr>
      </p:sp>
      <p:pic>
        <p:nvPicPr>
          <p:cNvPr id="8" name="icon-187" descr="icon">    </p:cNvPr>
          <p:cNvPicPr>
            <a:picLocks noChangeAspect="1"/>
          </p:cNvPicPr>
          <p:nvPr/>
        </p:nvPicPr>
        <p:blipFill>
          <a:blip r:embed="rId2"/>
          <a:stretch>
            <a:fillRect/>
          </a:stretch>
        </p:blipFill>
        <p:spPr>
          <a:xfrm>
            <a:off x="651510" y="2681478"/>
            <a:ext cx="205740" cy="205740"/>
          </a:xfrm>
          <a:prstGeom prst="rect">
            <a:avLst/>
          </a:prstGeom>
        </p:spPr>
      </p:pic>
      <p:sp>
        <p:nvSpPr>
          <p:cNvPr id="9" name="text-188"/>
          <p:cNvSpPr txBox="1"/>
          <p:nvPr/>
        </p:nvSpPr>
        <p:spPr>
          <a:xfrm>
            <a:off x="1143000" y="2578608"/>
            <a:ext cx="4389120" cy="411480"/>
          </a:xfrm>
          <a:prstGeom prst="rect">
            <a:avLst/>
          </a:prstGeom>
          <a:noFill/>
          <a:ln/>
        </p:spPr>
        <p:txBody>
          <a:bodyPr wrap="square" lIns="0" tIns="0" rIns="0" bIns="0" rtlCol="0" anchor="ctr"/>
          <a:lstStyle/>
          <a:p>
            <a:pPr indent="0" marL="0">
              <a:buNone/>
            </a:pPr>
            <a:r>
              <a:rPr lang="en-US" sz="1800" dirty="0">
                <a:solidFill>
                  <a:schemeClr val="bg1"/>
                </a:solidFill>
              </a:rPr>
              <a:t>Contract</a:t>
            </a:r>
            <a:endParaRPr lang="en-US" sz="1800" dirty="0"/>
          </a:p>
        </p:txBody>
      </p:sp>
      <p:sp>
        <p:nvSpPr>
          <p:cNvPr id="10" name="circle-189"/>
          <p:cNvSpPr/>
          <p:nvPr/>
        </p:nvSpPr>
        <p:spPr>
          <a:xfrm>
            <a:off x="548640" y="3145536"/>
            <a:ext cx="411480" cy="411480"/>
          </a:xfrm>
          <a:prstGeom prst="ellipse">
            <a:avLst/>
          </a:prstGeom>
          <a:solidFill>
            <a:schemeClr val="accent2"/>
          </a:solidFill>
          <a:ln w="12700">
            <a:solidFill>
              <a:schemeClr val="accent2"/>
            </a:solidFill>
            <a:prstDash val="solid"/>
          </a:ln>
        </p:spPr>
      </p:sp>
      <p:pic>
        <p:nvPicPr>
          <p:cNvPr id="11" name="icon-190" descr="icon">    </p:cNvPr>
          <p:cNvPicPr>
            <a:picLocks noChangeAspect="1"/>
          </p:cNvPicPr>
          <p:nvPr/>
        </p:nvPicPr>
        <p:blipFill>
          <a:blip r:embed="rId3"/>
          <a:stretch>
            <a:fillRect/>
          </a:stretch>
        </p:blipFill>
        <p:spPr>
          <a:xfrm>
            <a:off x="651510" y="3248406"/>
            <a:ext cx="205740" cy="205740"/>
          </a:xfrm>
          <a:prstGeom prst="rect">
            <a:avLst/>
          </a:prstGeom>
        </p:spPr>
      </p:pic>
      <p:sp>
        <p:nvSpPr>
          <p:cNvPr id="12" name="text-191"/>
          <p:cNvSpPr txBox="1"/>
          <p:nvPr/>
        </p:nvSpPr>
        <p:spPr>
          <a:xfrm>
            <a:off x="1143000" y="3145536"/>
            <a:ext cx="4389120" cy="411480"/>
          </a:xfrm>
          <a:prstGeom prst="rect">
            <a:avLst/>
          </a:prstGeom>
          <a:noFill/>
          <a:ln/>
        </p:spPr>
        <p:txBody>
          <a:bodyPr wrap="square" lIns="0" tIns="0" rIns="0" bIns="0" rtlCol="0" anchor="ctr"/>
          <a:lstStyle/>
          <a:p>
            <a:pPr indent="0" marL="0">
              <a:buNone/>
            </a:pPr>
            <a:r>
              <a:rPr lang="en-US" sz="1800" dirty="0">
                <a:solidFill>
                  <a:schemeClr val="bg1"/>
                </a:solidFill>
              </a:rPr>
              <a:t>Use Case Model</a:t>
            </a:r>
            <a:endParaRPr lang="en-US" sz="1800" dirty="0"/>
          </a:p>
        </p:txBody>
      </p:sp>
      <p:sp>
        <p:nvSpPr>
          <p:cNvPr id="13" name="circle-192"/>
          <p:cNvSpPr/>
          <p:nvPr/>
        </p:nvSpPr>
        <p:spPr>
          <a:xfrm>
            <a:off x="548640" y="3712464"/>
            <a:ext cx="411480" cy="411480"/>
          </a:xfrm>
          <a:prstGeom prst="ellipse">
            <a:avLst/>
          </a:prstGeom>
          <a:solidFill>
            <a:schemeClr val="accent2"/>
          </a:solidFill>
          <a:ln w="12700">
            <a:solidFill>
              <a:schemeClr val="accent2"/>
            </a:solidFill>
            <a:prstDash val="solid"/>
          </a:ln>
        </p:spPr>
      </p:sp>
      <p:pic>
        <p:nvPicPr>
          <p:cNvPr id="14" name="icon-193" descr="icon">    </p:cNvPr>
          <p:cNvPicPr>
            <a:picLocks noChangeAspect="1"/>
          </p:cNvPicPr>
          <p:nvPr/>
        </p:nvPicPr>
        <p:blipFill>
          <a:blip r:embed="rId4"/>
          <a:stretch>
            <a:fillRect/>
          </a:stretch>
        </p:blipFill>
        <p:spPr>
          <a:xfrm>
            <a:off x="651510" y="3815334"/>
            <a:ext cx="205740" cy="205740"/>
          </a:xfrm>
          <a:prstGeom prst="rect">
            <a:avLst/>
          </a:prstGeom>
        </p:spPr>
      </p:pic>
      <p:sp>
        <p:nvSpPr>
          <p:cNvPr id="15" name="text-194"/>
          <p:cNvSpPr txBox="1"/>
          <p:nvPr/>
        </p:nvSpPr>
        <p:spPr>
          <a:xfrm>
            <a:off x="1143000" y="3712464"/>
            <a:ext cx="4389120" cy="411480"/>
          </a:xfrm>
          <a:prstGeom prst="rect">
            <a:avLst/>
          </a:prstGeom>
          <a:noFill/>
          <a:ln/>
        </p:spPr>
        <p:txBody>
          <a:bodyPr wrap="square" lIns="0" tIns="0" rIns="0" bIns="0" rtlCol="0" anchor="ctr"/>
          <a:lstStyle/>
          <a:p>
            <a:pPr indent="0" marL="0">
              <a:buNone/>
            </a:pPr>
            <a:r>
              <a:rPr lang="en-US" sz="1800" dirty="0">
                <a:solidFill>
                  <a:schemeClr val="bg1"/>
                </a:solidFill>
              </a:rPr>
              <a:t>Business Process Model</a:t>
            </a:r>
            <a:endParaRPr lang="en-US" sz="1800" dirty="0"/>
          </a:p>
        </p:txBody>
      </p:sp>
      <p:sp>
        <p:nvSpPr>
          <p:cNvPr id="16" name="circle-195"/>
          <p:cNvSpPr/>
          <p:nvPr/>
        </p:nvSpPr>
        <p:spPr>
          <a:xfrm>
            <a:off x="548640" y="4279392"/>
            <a:ext cx="411480" cy="411480"/>
          </a:xfrm>
          <a:prstGeom prst="ellipse">
            <a:avLst/>
          </a:prstGeom>
          <a:solidFill>
            <a:schemeClr val="accent2"/>
          </a:solidFill>
          <a:ln w="12700">
            <a:solidFill>
              <a:schemeClr val="accent2"/>
            </a:solidFill>
            <a:prstDash val="solid"/>
          </a:ln>
        </p:spPr>
      </p:sp>
      <p:pic>
        <p:nvPicPr>
          <p:cNvPr id="17" name="icon-196" descr="icon">    </p:cNvPr>
          <p:cNvPicPr>
            <a:picLocks noChangeAspect="1"/>
          </p:cNvPicPr>
          <p:nvPr/>
        </p:nvPicPr>
        <p:blipFill>
          <a:blip r:embed="rId5"/>
          <a:stretch>
            <a:fillRect/>
          </a:stretch>
        </p:blipFill>
        <p:spPr>
          <a:xfrm>
            <a:off x="651510" y="4382262"/>
            <a:ext cx="205740" cy="205740"/>
          </a:xfrm>
          <a:prstGeom prst="rect">
            <a:avLst/>
          </a:prstGeom>
        </p:spPr>
      </p:pic>
      <p:sp>
        <p:nvSpPr>
          <p:cNvPr id="18" name="text-197"/>
          <p:cNvSpPr txBox="1"/>
          <p:nvPr/>
        </p:nvSpPr>
        <p:spPr>
          <a:xfrm>
            <a:off x="1143000" y="4279392"/>
            <a:ext cx="4389120" cy="411480"/>
          </a:xfrm>
          <a:prstGeom prst="rect">
            <a:avLst/>
          </a:prstGeom>
          <a:noFill/>
          <a:ln/>
        </p:spPr>
        <p:txBody>
          <a:bodyPr wrap="square" lIns="0" tIns="0" rIns="0" bIns="0" rtlCol="0" anchor="ctr"/>
          <a:lstStyle/>
          <a:p>
            <a:pPr indent="0" marL="0">
              <a:buNone/>
            </a:pPr>
            <a:r>
              <a:rPr lang="en-US" sz="1800" dirty="0">
                <a:solidFill>
                  <a:schemeClr val="bg1"/>
                </a:solidFill>
              </a:rPr>
              <a:t>Work Breakdown Structure</a:t>
            </a:r>
            <a:endParaRPr lang="en-US" sz="1800" dirty="0"/>
          </a:p>
        </p:txBody>
      </p:sp>
      <p:sp>
        <p:nvSpPr>
          <p:cNvPr id="19" name="circle-198"/>
          <p:cNvSpPr/>
          <p:nvPr/>
        </p:nvSpPr>
        <p:spPr>
          <a:xfrm>
            <a:off x="548640" y="4846320"/>
            <a:ext cx="411480" cy="411480"/>
          </a:xfrm>
          <a:prstGeom prst="ellipse">
            <a:avLst/>
          </a:prstGeom>
          <a:solidFill>
            <a:schemeClr val="accent2"/>
          </a:solidFill>
          <a:ln w="12700">
            <a:solidFill>
              <a:schemeClr val="accent2"/>
            </a:solidFill>
            <a:prstDash val="solid"/>
          </a:ln>
        </p:spPr>
      </p:sp>
      <p:pic>
        <p:nvPicPr>
          <p:cNvPr id="20" name="icon-199" descr="icon">    </p:cNvPr>
          <p:cNvPicPr>
            <a:picLocks noChangeAspect="1"/>
          </p:cNvPicPr>
          <p:nvPr/>
        </p:nvPicPr>
        <p:blipFill>
          <a:blip r:embed="rId6"/>
          <a:stretch>
            <a:fillRect/>
          </a:stretch>
        </p:blipFill>
        <p:spPr>
          <a:xfrm>
            <a:off x="651510" y="4949190"/>
            <a:ext cx="205740" cy="205740"/>
          </a:xfrm>
          <a:prstGeom prst="rect">
            <a:avLst/>
          </a:prstGeom>
        </p:spPr>
      </p:pic>
      <p:sp>
        <p:nvSpPr>
          <p:cNvPr id="21" name="text-200"/>
          <p:cNvSpPr txBox="1"/>
          <p:nvPr/>
        </p:nvSpPr>
        <p:spPr>
          <a:xfrm>
            <a:off x="1143000" y="4846320"/>
            <a:ext cx="4389120" cy="411480"/>
          </a:xfrm>
          <a:prstGeom prst="rect">
            <a:avLst/>
          </a:prstGeom>
          <a:noFill/>
          <a:ln/>
        </p:spPr>
        <p:txBody>
          <a:bodyPr wrap="square" lIns="0" tIns="0" rIns="0" bIns="0" rtlCol="0" anchor="ctr"/>
          <a:lstStyle/>
          <a:p>
            <a:pPr indent="0" marL="0">
              <a:buNone/>
            </a:pPr>
            <a:r>
              <a:rPr lang="en-US" sz="1800" dirty="0">
                <a:solidFill>
                  <a:schemeClr val="bg1"/>
                </a:solidFill>
              </a:rPr>
              <a:t>Gantt Chart</a:t>
            </a:r>
            <a:endParaRPr lang="en-US" sz="1800" dirty="0"/>
          </a:p>
        </p:txBody>
      </p:sp>
      <p:sp>
        <p:nvSpPr>
          <p:cNvPr id="22" name="text-201"/>
          <p:cNvSpPr txBox="1"/>
          <p:nvPr/>
        </p:nvSpPr>
        <p:spPr>
          <a:xfrm>
            <a:off x="6400800" y="1463040"/>
            <a:ext cx="4572000" cy="365760"/>
          </a:xfrm>
          <a:prstGeom prst="rect">
            <a:avLst/>
          </a:prstGeom>
          <a:noFill/>
          <a:ln/>
        </p:spPr>
        <p:txBody>
          <a:bodyPr wrap="square" lIns="0" tIns="0" rIns="0" bIns="0" rtlCol="0" anchor="ctr"/>
          <a:lstStyle/>
          <a:p>
            <a:pPr indent="0" marL="0">
              <a:buNone/>
            </a:pPr>
            <a:r>
              <a:rPr lang="en-US" sz="2000" b="1" dirty="0">
                <a:solidFill>
                  <a:schemeClr val="accent2"/>
                </a:solidFill>
              </a:rPr>
              <a:t>Next steps</a:t>
            </a:r>
            <a:endParaRPr lang="en-US" sz="2000" dirty="0"/>
          </a:p>
        </p:txBody>
      </p:sp>
      <p:sp>
        <p:nvSpPr>
          <p:cNvPr id="23" name="num-202"/>
          <p:cNvSpPr/>
          <p:nvPr/>
        </p:nvSpPr>
        <p:spPr>
          <a:xfrm>
            <a:off x="6400800" y="2011680"/>
            <a:ext cx="457200" cy="457200"/>
          </a:xfrm>
          <a:prstGeom prst="ellipse">
            <a:avLst/>
          </a:prstGeom>
          <a:solidFill>
            <a:schemeClr val="accent1"/>
          </a:solidFill>
          <a:ln w="12700">
            <a:solidFill>
              <a:srgbClr val="B5536C"/>
            </a:solidFill>
            <a:prstDash val="solid"/>
          </a:ln>
        </p:spPr>
      </p:sp>
      <p:sp>
        <p:nvSpPr>
          <p:cNvPr id="24" name="text-203"/>
          <p:cNvSpPr txBox="1"/>
          <p:nvPr/>
        </p:nvSpPr>
        <p:spPr>
          <a:xfrm>
            <a:off x="640080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25" name="text-204"/>
          <p:cNvSpPr txBox="1"/>
          <p:nvPr/>
        </p:nvSpPr>
        <p:spPr>
          <a:xfrm>
            <a:off x="7086600" y="1965960"/>
            <a:ext cx="4526280" cy="548640"/>
          </a:xfrm>
          <a:prstGeom prst="rect">
            <a:avLst/>
          </a:prstGeom>
          <a:noFill/>
          <a:ln/>
        </p:spPr>
        <p:txBody>
          <a:bodyPr wrap="square" lIns="0" tIns="0" rIns="0" bIns="0" rtlCol="0" anchor="ctr"/>
          <a:lstStyle/>
          <a:p>
            <a:pPr indent="0" marL="0">
              <a:buNone/>
            </a:pPr>
            <a:r>
              <a:rPr lang="en-US" sz="1600" dirty="0">
                <a:solidFill>
                  <a:schemeClr val="bg1"/>
                </a:solidFill>
              </a:rPr>
              <a:t>Build the site on Google Sites with AI</a:t>
            </a:r>
            <a:endParaRPr lang="en-US" sz="1600" dirty="0"/>
          </a:p>
        </p:txBody>
      </p:sp>
      <p:sp>
        <p:nvSpPr>
          <p:cNvPr id="26" name="num-205"/>
          <p:cNvSpPr/>
          <p:nvPr/>
        </p:nvSpPr>
        <p:spPr>
          <a:xfrm>
            <a:off x="6400800" y="2724912"/>
            <a:ext cx="457200" cy="457200"/>
          </a:xfrm>
          <a:prstGeom prst="ellipse">
            <a:avLst/>
          </a:prstGeom>
          <a:solidFill>
            <a:schemeClr val="accent1"/>
          </a:solidFill>
          <a:ln w="12700">
            <a:solidFill>
              <a:srgbClr val="B5536C"/>
            </a:solidFill>
            <a:prstDash val="solid"/>
          </a:ln>
        </p:spPr>
      </p:sp>
      <p:sp>
        <p:nvSpPr>
          <p:cNvPr id="27" name="text-206"/>
          <p:cNvSpPr txBox="1"/>
          <p:nvPr/>
        </p:nvSpPr>
        <p:spPr>
          <a:xfrm>
            <a:off x="6400800" y="272491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8" name="text-207"/>
          <p:cNvSpPr txBox="1"/>
          <p:nvPr/>
        </p:nvSpPr>
        <p:spPr>
          <a:xfrm>
            <a:off x="7086600" y="2679192"/>
            <a:ext cx="4526280" cy="548640"/>
          </a:xfrm>
          <a:prstGeom prst="rect">
            <a:avLst/>
          </a:prstGeom>
          <a:noFill/>
          <a:ln/>
        </p:spPr>
        <p:txBody>
          <a:bodyPr wrap="square" lIns="0" tIns="0" rIns="0" bIns="0" rtlCol="0" anchor="ctr"/>
          <a:lstStyle/>
          <a:p>
            <a:pPr indent="0" marL="0">
              <a:buNone/>
            </a:pPr>
            <a:r>
              <a:rPr lang="en-US" sz="1600" dirty="0">
                <a:solidFill>
                  <a:schemeClr val="bg1"/>
                </a:solidFill>
              </a:rPr>
              <a:t>Set up the Google Sheets workbook</a:t>
            </a:r>
            <a:endParaRPr lang="en-US" sz="1600" dirty="0"/>
          </a:p>
        </p:txBody>
      </p:sp>
      <p:sp>
        <p:nvSpPr>
          <p:cNvPr id="29" name="num-208"/>
          <p:cNvSpPr/>
          <p:nvPr/>
        </p:nvSpPr>
        <p:spPr>
          <a:xfrm>
            <a:off x="6400800" y="3438144"/>
            <a:ext cx="457200" cy="457200"/>
          </a:xfrm>
          <a:prstGeom prst="ellipse">
            <a:avLst/>
          </a:prstGeom>
          <a:solidFill>
            <a:schemeClr val="accent1"/>
          </a:solidFill>
          <a:ln w="12700">
            <a:solidFill>
              <a:srgbClr val="B5536C"/>
            </a:solidFill>
            <a:prstDash val="solid"/>
          </a:ln>
        </p:spPr>
      </p:sp>
      <p:sp>
        <p:nvSpPr>
          <p:cNvPr id="30" name="text-209"/>
          <p:cNvSpPr txBox="1"/>
          <p:nvPr/>
        </p:nvSpPr>
        <p:spPr>
          <a:xfrm>
            <a:off x="6400800" y="34381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31" name="text-210"/>
          <p:cNvSpPr txBox="1"/>
          <p:nvPr/>
        </p:nvSpPr>
        <p:spPr>
          <a:xfrm>
            <a:off x="7086600" y="3392424"/>
            <a:ext cx="4526280" cy="548640"/>
          </a:xfrm>
          <a:prstGeom prst="rect">
            <a:avLst/>
          </a:prstGeom>
          <a:noFill/>
          <a:ln/>
        </p:spPr>
        <p:txBody>
          <a:bodyPr wrap="square" lIns="0" tIns="0" rIns="0" bIns="0" rtlCol="0" anchor="ctr"/>
          <a:lstStyle/>
          <a:p>
            <a:pPr indent="0" marL="0">
              <a:buNone/>
            </a:pPr>
            <a:r>
              <a:rPr lang="en-US" sz="1600" dirty="0">
                <a:solidFill>
                  <a:schemeClr val="bg1"/>
                </a:solidFill>
              </a:rPr>
              <a:t>Test with the shop manager and fix issues</a:t>
            </a:r>
            <a:endParaRPr lang="en-US" sz="1600" dirty="0"/>
          </a:p>
        </p:txBody>
      </p:sp>
      <p:sp>
        <p:nvSpPr>
          <p:cNvPr id="32" name="num-211"/>
          <p:cNvSpPr/>
          <p:nvPr/>
        </p:nvSpPr>
        <p:spPr>
          <a:xfrm>
            <a:off x="6400800" y="4151376"/>
            <a:ext cx="457200" cy="457200"/>
          </a:xfrm>
          <a:prstGeom prst="ellipse">
            <a:avLst/>
          </a:prstGeom>
          <a:solidFill>
            <a:schemeClr val="accent1"/>
          </a:solidFill>
          <a:ln w="12700">
            <a:solidFill>
              <a:srgbClr val="B5536C"/>
            </a:solidFill>
            <a:prstDash val="solid"/>
          </a:ln>
        </p:spPr>
      </p:sp>
      <p:sp>
        <p:nvSpPr>
          <p:cNvPr id="33" name="text-212"/>
          <p:cNvSpPr txBox="1"/>
          <p:nvPr/>
        </p:nvSpPr>
        <p:spPr>
          <a:xfrm>
            <a:off x="6400800" y="41513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4" name="text-213"/>
          <p:cNvSpPr txBox="1"/>
          <p:nvPr/>
        </p:nvSpPr>
        <p:spPr>
          <a:xfrm>
            <a:off x="7086600" y="4105656"/>
            <a:ext cx="4526280" cy="548640"/>
          </a:xfrm>
          <a:prstGeom prst="rect">
            <a:avLst/>
          </a:prstGeom>
          <a:noFill/>
          <a:ln/>
        </p:spPr>
        <p:txBody>
          <a:bodyPr wrap="square" lIns="0" tIns="0" rIns="0" bIns="0" rtlCol="0" anchor="ctr"/>
          <a:lstStyle/>
          <a:p>
            <a:pPr indent="0" marL="0">
              <a:buNone/>
            </a:pPr>
            <a:r>
              <a:rPr lang="en-US" sz="1600" dirty="0">
                <a:solidFill>
                  <a:schemeClr val="bg1"/>
                </a:solidFill>
              </a:rPr>
              <a:t>Launch and hand over the user guide by week 10</a:t>
            </a:r>
            <a:endParaRPr lang="en-US" sz="1600" dirty="0"/>
          </a:p>
        </p:txBody>
      </p:sp>
      <p:sp>
        <p:nvSpPr>
          <p:cNvPr id="35" name="text-214"/>
          <p:cNvSpPr txBox="1"/>
          <p:nvPr/>
        </p:nvSpPr>
        <p:spPr>
          <a:xfrm>
            <a:off x="548640" y="5669280"/>
            <a:ext cx="11064240" cy="731520"/>
          </a:xfrm>
          <a:prstGeom prst="rect">
            <a:avLst/>
          </a:prstGeom>
          <a:noFill/>
          <a:ln/>
        </p:spPr>
        <p:txBody>
          <a:bodyPr wrap="square" lIns="0" tIns="0" rIns="0" bIns="0" rtlCol="0" anchor="ctr"/>
          <a:lstStyle/>
          <a:p>
            <a:pPr indent="0" marL="0">
              <a:buNone/>
            </a:pPr>
            <a:r>
              <a:rPr lang="en-US" sz="3200" b="1" dirty="0">
                <a:solidFill>
                  <a:schemeClr val="accent2"/>
                </a:solidFill>
                <a:latin typeface="Cambria" pitchFamily="34" charset="0"/>
                <a:ea typeface="Cambria" pitchFamily="34" charset="-122"/>
                <a:cs typeface="Cambria" pitchFamily="34" charset="-120"/>
              </a:rPr>
              <a:t>Thank you. Questions?</a:t>
            </a:r>
            <a:endParaRPr lang="en-US" sz="3200" dirty="0"/>
          </a:p>
        </p:txBody>
      </p:sp>
    </p:spTree>
  </p:cSld>
  <p:clrMapOvr>
    <a:masterClrMapping/>
  </p:clrMapOvr>
</p:sld>
</file>

<file path=ppt/theme/theme1.xml><?xml version="1.0" encoding="utf-8"?>
<a:theme xmlns:a="http://schemas.openxmlformats.org/drawingml/2006/main" name="DRM Rose Plum">
  <a:themeElements>
    <a:clrScheme name="DRM Rose Plum">
      <a:dk1>
        <a:srgbClr val="2B1B26"/>
      </a:dk1>
      <a:lt1>
        <a:srgbClr val="FFFFFF"/>
      </a:lt1>
      <a:dk2>
        <a:srgbClr val="4A1D3F"/>
      </a:dk2>
      <a:lt2>
        <a:srgbClr val="F8ECEF"/>
      </a:lt2>
      <a:accent1>
        <a:srgbClr val="B5536C"/>
      </a:accent1>
      <a:accent2>
        <a:srgbClr val="C9A66B"/>
      </a:accent2>
      <a:accent3>
        <a:srgbClr val="7A3B69"/>
      </a:accent3>
      <a:accent4>
        <a:srgbClr val="E4B7C2"/>
      </a:accent4>
      <a:accent5>
        <a:srgbClr val="5E8C7B"/>
      </a:accent5>
      <a:accent6>
        <a:srgbClr val="7D6574"/>
      </a:accent6>
      <a:hlink>
        <a:srgbClr val="B5536C"/>
      </a:hlink>
      <a:folHlink>
        <a:srgbClr val="7A3B69"/>
      </a:folHlink>
    </a:clrScheme>
    <a:fontScheme name="DRM Rose Plum">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Cosmetics Ordering System – Project Report</dc:title>
  <dc:subject>PptxGenJS Presentation</dc:subject>
  <dc:creator>Team DRM</dc:creator>
  <cp:lastModifiedBy>Team DRM</cp:lastModifiedBy>
  <cp:revision>1</cp:revision>
  <dcterms:created xsi:type="dcterms:W3CDTF">2026-10-17T18:18:44Z</dcterms:created>
  <dcterms:modified xsi:type="dcterms:W3CDTF">2026-10-17T18:18:44Z</dcterms:modified>
</cp:coreProperties>
</file>